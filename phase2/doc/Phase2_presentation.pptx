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3" r:id="rId1"/>
  </p:sldMasterIdLst>
  <p:notesMasterIdLst>
    <p:notesMasterId r:id="rId11"/>
  </p:notesMasterIdLst>
  <p:sldIdLst>
    <p:sldId id="256" r:id="rId2"/>
    <p:sldId id="258" r:id="rId3"/>
    <p:sldId id="257" r:id="rId4"/>
    <p:sldId id="265" r:id="rId5"/>
    <p:sldId id="262" r:id="rId6"/>
    <p:sldId id="263" r:id="rId7"/>
    <p:sldId id="264" r:id="rId8"/>
    <p:sldId id="261" r:id="rId9"/>
    <p:sldId id="259" r:id="rId10"/>
  </p:sldIdLst>
  <p:sldSz cx="9144000" cy="5143500" type="screen16x9"/>
  <p:notesSz cx="6858000" cy="9144000"/>
  <p:embeddedFontLst>
    <p:embeddedFont>
      <p:font typeface="Montserrat ExtraLight" panose="020B0604020202020204" charset="0"/>
      <p:regular r:id="rId12"/>
      <p:bold r:id="rId13"/>
      <p:italic r:id="rId14"/>
      <p:boldItalic r:id="rId15"/>
    </p:embeddedFont>
    <p:embeddedFont>
      <p:font typeface="Montserrat ExtraBold" panose="020B0604020202020204" charset="0"/>
      <p:bold r:id="rId16"/>
      <p:boldItalic r:id="rId17"/>
    </p:embeddedFont>
    <p:embeddedFont>
      <p:font typeface="Montserrat" panose="020B0604020202020204" charset="0"/>
      <p:regular r:id="rId18"/>
      <p:bold r:id="rId19"/>
      <p:italic r:id="rId20"/>
      <p:boldItalic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80C41F6-21AD-4895-88D6-9795F2D231D2}">
  <a:tblStyle styleId="{A80C41F6-21AD-4895-88D6-9795F2D231D2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9" d="100"/>
          <a:sy n="139" d="100"/>
        </p:scale>
        <p:origin x="80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font" Target="fonts/font10.fntdata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7f9262ee2f_0_262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7f9262ee2f_0_262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7f9262ee2f_0_262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7f9262ee2f_0_262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>
          <a:extLst>
            <a:ext uri="{FF2B5EF4-FFF2-40B4-BE49-F238E27FC236}">
              <a16:creationId xmlns:a16="http://schemas.microsoft.com/office/drawing/2014/main" id="{E63D7CEB-127A-89D8-EBAE-03707D641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7f9262ee2f_0_26269:notes">
            <a:extLst>
              <a:ext uri="{FF2B5EF4-FFF2-40B4-BE49-F238E27FC236}">
                <a16:creationId xmlns:a16="http://schemas.microsoft.com/office/drawing/2014/main" id="{DAE8BA68-817E-189D-7EB6-8C63A53076A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7f9262ee2f_0_26269:notes">
            <a:extLst>
              <a:ext uri="{FF2B5EF4-FFF2-40B4-BE49-F238E27FC236}">
                <a16:creationId xmlns:a16="http://schemas.microsoft.com/office/drawing/2014/main" id="{9E75A3A6-A234-6214-36FF-A39601EED8A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2855033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>
          <a:extLst>
            <a:ext uri="{FF2B5EF4-FFF2-40B4-BE49-F238E27FC236}">
              <a16:creationId xmlns:a16="http://schemas.microsoft.com/office/drawing/2014/main" id="{BB815F83-4344-8F2E-D863-700400803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7f9262ee2f_0_26269:notes">
            <a:extLst>
              <a:ext uri="{FF2B5EF4-FFF2-40B4-BE49-F238E27FC236}">
                <a16:creationId xmlns:a16="http://schemas.microsoft.com/office/drawing/2014/main" id="{6665AC53-54B6-B8C7-92FB-380EC34F59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7f9262ee2f_0_26269:notes">
            <a:extLst>
              <a:ext uri="{FF2B5EF4-FFF2-40B4-BE49-F238E27FC236}">
                <a16:creationId xmlns:a16="http://schemas.microsoft.com/office/drawing/2014/main" id="{4BE817A3-6FBC-16D2-545B-D65ECB815E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81457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>
          <a:extLst>
            <a:ext uri="{FF2B5EF4-FFF2-40B4-BE49-F238E27FC236}">
              <a16:creationId xmlns:a16="http://schemas.microsoft.com/office/drawing/2014/main" id="{573136AB-1845-4CDD-02F0-2E680641A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7f9262ee2f_0_26269:notes">
            <a:extLst>
              <a:ext uri="{FF2B5EF4-FFF2-40B4-BE49-F238E27FC236}">
                <a16:creationId xmlns:a16="http://schemas.microsoft.com/office/drawing/2014/main" id="{21E239EB-CB0B-AC54-B800-74030B38447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7f9262ee2f_0_26269:notes">
            <a:extLst>
              <a:ext uri="{FF2B5EF4-FFF2-40B4-BE49-F238E27FC236}">
                <a16:creationId xmlns:a16="http://schemas.microsoft.com/office/drawing/2014/main" id="{DD0BC75B-A06A-5A07-5BD0-5DD4A56545E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712612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>
          <a:extLst>
            <a:ext uri="{FF2B5EF4-FFF2-40B4-BE49-F238E27FC236}">
              <a16:creationId xmlns:a16="http://schemas.microsoft.com/office/drawing/2014/main" id="{E63D7CEB-127A-89D8-EBAE-03707D641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7f9262ee2f_0_26269:notes">
            <a:extLst>
              <a:ext uri="{FF2B5EF4-FFF2-40B4-BE49-F238E27FC236}">
                <a16:creationId xmlns:a16="http://schemas.microsoft.com/office/drawing/2014/main" id="{DAE8BA68-817E-189D-7EB6-8C63A53076A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7f9262ee2f_0_26269:notes">
            <a:extLst>
              <a:ext uri="{FF2B5EF4-FFF2-40B4-BE49-F238E27FC236}">
                <a16:creationId xmlns:a16="http://schemas.microsoft.com/office/drawing/2014/main" id="{9E75A3A6-A234-6214-36FF-A39601EED8A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005518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7f9262ee2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7f9262ee2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7290233416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7290233416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2175900" y="1950100"/>
            <a:ext cx="4792200" cy="64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2044200" y="3704650"/>
            <a:ext cx="5055600" cy="4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title"/>
          </p:nvPr>
        </p:nvSpPr>
        <p:spPr>
          <a:xfrm>
            <a:off x="3762670" y="3177750"/>
            <a:ext cx="3068700" cy="59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title" idx="2" hasCustomPrompt="1"/>
          </p:nvPr>
        </p:nvSpPr>
        <p:spPr>
          <a:xfrm>
            <a:off x="1048270" y="3287500"/>
            <a:ext cx="2412900" cy="931500"/>
          </a:xfrm>
          <a:prstGeom prst="rect">
            <a:avLst/>
          </a:prstGeom>
          <a:effectLst>
            <a:outerShdw blurRad="114300" dist="28575" dir="6360000" algn="bl" rotWithShape="0">
              <a:schemeClr val="accent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" name="Google Shape;14;p3"/>
          <p:cNvSpPr txBox="1">
            <a:spLocks noGrp="1"/>
          </p:cNvSpPr>
          <p:nvPr>
            <p:ph type="subTitle" idx="1"/>
          </p:nvPr>
        </p:nvSpPr>
        <p:spPr>
          <a:xfrm>
            <a:off x="3762670" y="3720650"/>
            <a:ext cx="3068700" cy="4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938500" y="1659275"/>
            <a:ext cx="3186900" cy="276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body" idx="2"/>
          </p:nvPr>
        </p:nvSpPr>
        <p:spPr>
          <a:xfrm>
            <a:off x="5037525" y="1659275"/>
            <a:ext cx="3186900" cy="276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Bullet Points">
  <p:cSld name="CAPTION_ONLY_3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3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57357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3" name="Google Shape;43;p13"/>
          <p:cNvSpPr txBox="1">
            <a:spLocks noGrp="1"/>
          </p:cNvSpPr>
          <p:nvPr>
            <p:ph type="body" idx="1"/>
          </p:nvPr>
        </p:nvSpPr>
        <p:spPr>
          <a:xfrm>
            <a:off x="938500" y="1246025"/>
            <a:ext cx="7172100" cy="303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162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50"/>
              <a:buChar char="●"/>
              <a:defRPr sz="1150">
                <a:solidFill>
                  <a:schemeClr val="lt1"/>
                </a:solidFill>
              </a:defRPr>
            </a:lvl1pPr>
            <a:lvl2pPr marL="914400" lvl="1" indent="-301625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Char char="○"/>
              <a:defRPr sz="1150">
                <a:solidFill>
                  <a:schemeClr val="lt1"/>
                </a:solidFill>
              </a:defRPr>
            </a:lvl2pPr>
            <a:lvl3pPr marL="1371600" lvl="2" indent="-301625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Char char="■"/>
              <a:defRPr sz="1150">
                <a:solidFill>
                  <a:schemeClr val="lt1"/>
                </a:solidFill>
              </a:defRPr>
            </a:lvl3pPr>
            <a:lvl4pPr marL="1828800" lvl="3" indent="-301625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Char char="●"/>
              <a:defRPr sz="1150">
                <a:solidFill>
                  <a:schemeClr val="lt1"/>
                </a:solidFill>
              </a:defRPr>
            </a:lvl4pPr>
            <a:lvl5pPr marL="2286000" lvl="4" indent="-301625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Char char="○"/>
              <a:defRPr sz="1150">
                <a:solidFill>
                  <a:schemeClr val="lt1"/>
                </a:solidFill>
              </a:defRPr>
            </a:lvl5pPr>
            <a:lvl6pPr marL="2743200" lvl="5" indent="-301625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Char char="■"/>
              <a:defRPr sz="1150">
                <a:solidFill>
                  <a:schemeClr val="lt1"/>
                </a:solidFill>
              </a:defRPr>
            </a:lvl6pPr>
            <a:lvl7pPr marL="3200400" lvl="6" indent="-301625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Char char="●"/>
              <a:defRPr sz="1150">
                <a:solidFill>
                  <a:schemeClr val="lt1"/>
                </a:solidFill>
              </a:defRPr>
            </a:lvl7pPr>
            <a:lvl8pPr marL="3657600" lvl="7" indent="-301625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Char char="○"/>
              <a:defRPr sz="1150">
                <a:solidFill>
                  <a:schemeClr val="lt1"/>
                </a:solidFill>
              </a:defRPr>
            </a:lvl8pPr>
            <a:lvl9pPr marL="4114800" lvl="8" indent="-301625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150"/>
              <a:buChar char="■"/>
              <a:defRPr sz="115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SECTION_TITLE_AND_DESCRIPTION_1_1_3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4"/>
          <p:cNvSpPr txBox="1">
            <a:spLocks noGrp="1"/>
          </p:cNvSpPr>
          <p:nvPr>
            <p:ph type="title"/>
          </p:nvPr>
        </p:nvSpPr>
        <p:spPr>
          <a:xfrm>
            <a:off x="3538497" y="2615575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6" name="Google Shape;46;p14"/>
          <p:cNvSpPr txBox="1">
            <a:spLocks noGrp="1"/>
          </p:cNvSpPr>
          <p:nvPr>
            <p:ph type="subTitle" idx="1"/>
          </p:nvPr>
        </p:nvSpPr>
        <p:spPr>
          <a:xfrm>
            <a:off x="3538497" y="3148075"/>
            <a:ext cx="20670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14"/>
          <p:cNvSpPr txBox="1">
            <a:spLocks noGrp="1"/>
          </p:cNvSpPr>
          <p:nvPr>
            <p:ph type="title" idx="2"/>
          </p:nvPr>
        </p:nvSpPr>
        <p:spPr>
          <a:xfrm>
            <a:off x="6028553" y="2615575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8" name="Google Shape;48;p14"/>
          <p:cNvSpPr txBox="1">
            <a:spLocks noGrp="1"/>
          </p:cNvSpPr>
          <p:nvPr>
            <p:ph type="subTitle" idx="3"/>
          </p:nvPr>
        </p:nvSpPr>
        <p:spPr>
          <a:xfrm>
            <a:off x="6028553" y="3148075"/>
            <a:ext cx="20670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9" name="Google Shape;49;p14"/>
          <p:cNvSpPr txBox="1">
            <a:spLocks noGrp="1"/>
          </p:cNvSpPr>
          <p:nvPr>
            <p:ph type="title" idx="4"/>
          </p:nvPr>
        </p:nvSpPr>
        <p:spPr>
          <a:xfrm>
            <a:off x="1048447" y="2615575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0" name="Google Shape;50;p14"/>
          <p:cNvSpPr txBox="1">
            <a:spLocks noGrp="1"/>
          </p:cNvSpPr>
          <p:nvPr>
            <p:ph type="subTitle" idx="5"/>
          </p:nvPr>
        </p:nvSpPr>
        <p:spPr>
          <a:xfrm>
            <a:off x="1048447" y="3148075"/>
            <a:ext cx="20670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" name="Google Shape;51;p14"/>
          <p:cNvSpPr txBox="1">
            <a:spLocks noGrp="1"/>
          </p:cNvSpPr>
          <p:nvPr>
            <p:ph type="title" idx="6" hasCustomPrompt="1"/>
          </p:nvPr>
        </p:nvSpPr>
        <p:spPr>
          <a:xfrm>
            <a:off x="1048450" y="1770700"/>
            <a:ext cx="2067000" cy="72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" name="Google Shape;52;p14"/>
          <p:cNvSpPr txBox="1">
            <a:spLocks noGrp="1"/>
          </p:cNvSpPr>
          <p:nvPr>
            <p:ph type="title" idx="7" hasCustomPrompt="1"/>
          </p:nvPr>
        </p:nvSpPr>
        <p:spPr>
          <a:xfrm>
            <a:off x="3538500" y="1770700"/>
            <a:ext cx="2067000" cy="72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3" name="Google Shape;53;p14"/>
          <p:cNvSpPr txBox="1">
            <a:spLocks noGrp="1"/>
          </p:cNvSpPr>
          <p:nvPr>
            <p:ph type="title" idx="8" hasCustomPrompt="1"/>
          </p:nvPr>
        </p:nvSpPr>
        <p:spPr>
          <a:xfrm>
            <a:off x="6028550" y="1770700"/>
            <a:ext cx="2067000" cy="72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Text">
  <p:cSld name="TITLE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5"/>
          <p:cNvSpPr txBox="1">
            <a:spLocks noGrp="1"/>
          </p:cNvSpPr>
          <p:nvPr>
            <p:ph type="ctrTitle"/>
          </p:nvPr>
        </p:nvSpPr>
        <p:spPr>
          <a:xfrm>
            <a:off x="4285500" y="2832875"/>
            <a:ext cx="3657300" cy="644700"/>
          </a:xfrm>
          <a:prstGeom prst="rect">
            <a:avLst/>
          </a:prstGeom>
          <a:effectLst>
            <a:outerShdw blurRad="57150" dist="19050" dir="5400000" algn="bl" rotWithShape="0">
              <a:srgbClr val="76A5AF">
                <a:alpha val="88000"/>
              </a:srgb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 b="1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6" name="Google Shape;56;p15"/>
          <p:cNvSpPr txBox="1">
            <a:spLocks noGrp="1"/>
          </p:cNvSpPr>
          <p:nvPr>
            <p:ph type="subTitle" idx="1"/>
          </p:nvPr>
        </p:nvSpPr>
        <p:spPr>
          <a:xfrm>
            <a:off x="4144050" y="3549850"/>
            <a:ext cx="3940200" cy="4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ExtraBold"/>
              <a:buNone/>
              <a:defRPr sz="2800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"/>
              <a:buChar char="●"/>
              <a:defRPr sz="18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●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●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175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1" r:id="rId3"/>
    <p:sldLayoutId id="2147483658" r:id="rId4"/>
    <p:sldLayoutId id="2147483659" r:id="rId5"/>
    <p:sldLayoutId id="2147483660" r:id="rId6"/>
    <p:sldLayoutId id="2147483661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38"/>
          <p:cNvSpPr txBox="1">
            <a:spLocks noGrp="1"/>
          </p:cNvSpPr>
          <p:nvPr>
            <p:ph type="ctrTitle"/>
          </p:nvPr>
        </p:nvSpPr>
        <p:spPr>
          <a:xfrm>
            <a:off x="2175899" y="1824025"/>
            <a:ext cx="4792200" cy="644700"/>
          </a:xfrm>
          <a:prstGeom prst="rect">
            <a:avLst/>
          </a:prstGeom>
          <a:effectLst>
            <a:outerShdw blurRad="142875" dist="19050" dir="8760000" algn="bl" rotWithShape="0">
              <a:srgbClr val="76A5AF">
                <a:alpha val="50000"/>
              </a:srgb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Food Tracking System Phase 2</a:t>
            </a:r>
            <a:endParaRPr dirty="0"/>
          </a:p>
        </p:txBody>
      </p:sp>
      <p:sp>
        <p:nvSpPr>
          <p:cNvPr id="164" name="Google Shape;164;p38"/>
          <p:cNvSpPr txBox="1">
            <a:spLocks noGrp="1"/>
          </p:cNvSpPr>
          <p:nvPr>
            <p:ph type="ctrTitle"/>
          </p:nvPr>
        </p:nvSpPr>
        <p:spPr>
          <a:xfrm>
            <a:off x="3371217" y="2767638"/>
            <a:ext cx="2507581" cy="1465302"/>
          </a:xfrm>
          <a:prstGeom prst="rect">
            <a:avLst/>
          </a:prstGeom>
          <a:effectLst>
            <a:outerShdw blurRad="100013" dist="19050" dir="8460000" algn="bl" rotWithShape="0">
              <a:srgbClr val="76A5AF">
                <a:alpha val="50000"/>
              </a:srgb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r-HR" sz="1100" b="0" dirty="0">
                <a:latin typeface="Montserrat ExtraLight"/>
                <a:ea typeface="Montserrat ExtraLight"/>
                <a:cs typeface="Montserrat ExtraLight"/>
                <a:sym typeface="Montserrat ExtraLight"/>
              </a:rPr>
              <a:t>Denis Keselj, </a:t>
            </a:r>
            <a:br>
              <a:rPr lang="hr-HR" sz="1100" b="0" dirty="0">
                <a:latin typeface="Montserrat ExtraLight"/>
                <a:ea typeface="Montserrat ExtraLight"/>
                <a:cs typeface="Montserrat ExtraLight"/>
                <a:sym typeface="Montserrat ExtraLight"/>
              </a:rPr>
            </a:br>
            <a:r>
              <a:rPr lang="hr-HR" sz="1100" b="0" dirty="0">
                <a:latin typeface="Montserrat ExtraLight"/>
                <a:ea typeface="Montserrat ExtraLight"/>
                <a:cs typeface="Montserrat ExtraLight"/>
                <a:sym typeface="Montserrat ExtraLight"/>
              </a:rPr>
              <a:t>Marko Obsivac,</a:t>
            </a:r>
            <a:br>
              <a:rPr lang="hr-HR" sz="1100" b="0" dirty="0">
                <a:latin typeface="Montserrat ExtraLight"/>
                <a:ea typeface="Montserrat ExtraLight"/>
                <a:cs typeface="Montserrat ExtraLight"/>
                <a:sym typeface="Montserrat ExtraLight"/>
              </a:rPr>
            </a:br>
            <a:r>
              <a:rPr lang="hr-HR" sz="1100" b="0" dirty="0">
                <a:latin typeface="Montserrat ExtraLight"/>
                <a:ea typeface="Montserrat ExtraLight"/>
                <a:cs typeface="Montserrat ExtraLight"/>
                <a:sym typeface="Montserrat ExtraLight"/>
              </a:rPr>
              <a:t>Gabriel </a:t>
            </a:r>
            <a:r>
              <a:rPr lang="hr-HR" sz="1100" b="0" dirty="0" smtClean="0">
                <a:latin typeface="Montserrat ExtraLight"/>
                <a:ea typeface="Montserrat ExtraLight"/>
                <a:cs typeface="Montserrat ExtraLight"/>
                <a:sym typeface="Montserrat ExtraLight"/>
              </a:rPr>
              <a:t>Muskaj</a:t>
            </a:r>
            <a:r>
              <a:rPr lang="en-US" sz="1100" b="0" dirty="0" smtClean="0">
                <a:latin typeface="Montserrat ExtraLight"/>
                <a:ea typeface="Montserrat ExtraLight"/>
                <a:cs typeface="Montserrat ExtraLight"/>
                <a:sym typeface="Montserrat ExtraLight"/>
              </a:rPr>
              <a:t/>
            </a:r>
            <a:br>
              <a:rPr lang="en-US" sz="1100" b="0" dirty="0" smtClean="0">
                <a:latin typeface="Montserrat ExtraLight"/>
                <a:ea typeface="Montserrat ExtraLight"/>
                <a:cs typeface="Montserrat ExtraLight"/>
                <a:sym typeface="Montserrat ExtraLight"/>
              </a:rPr>
            </a:br>
            <a:r>
              <a:rPr lang="en-US" sz="1100" b="0" dirty="0">
                <a:latin typeface="Montserrat ExtraLight"/>
                <a:ea typeface="Montserrat ExtraLight"/>
                <a:cs typeface="Montserrat ExtraLight"/>
                <a:sym typeface="Montserrat ExtraLight"/>
              </a:rPr>
              <a:t/>
            </a:r>
            <a:br>
              <a:rPr lang="en-US" sz="1100" b="0" dirty="0">
                <a:latin typeface="Montserrat ExtraLight"/>
                <a:ea typeface="Montserrat ExtraLight"/>
                <a:cs typeface="Montserrat ExtraLight"/>
                <a:sym typeface="Montserrat ExtraLight"/>
              </a:rPr>
            </a:br>
            <a:r>
              <a:rPr lang="en-US" sz="1100" b="0" dirty="0" smtClean="0">
                <a:latin typeface="Montserrat ExtraLight"/>
                <a:ea typeface="Montserrat ExtraLight"/>
                <a:cs typeface="Montserrat ExtraLight"/>
                <a:sym typeface="Montserrat ExtraLight"/>
              </a:rPr>
              <a:t>05.04.2026</a:t>
            </a:r>
            <a:endParaRPr sz="1100" b="0" dirty="0">
              <a:latin typeface="Montserrat ExtraLight"/>
              <a:ea typeface="Montserrat ExtraLight"/>
              <a:cs typeface="Montserrat ExtraLight"/>
              <a:sym typeface="Montserrat ExtraLight"/>
            </a:endParaRPr>
          </a:p>
        </p:txBody>
      </p:sp>
      <p:cxnSp>
        <p:nvCxnSpPr>
          <p:cNvPr id="165" name="Google Shape;165;p38"/>
          <p:cNvCxnSpPr/>
          <p:nvPr/>
        </p:nvCxnSpPr>
        <p:spPr>
          <a:xfrm>
            <a:off x="3190500" y="256517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40"/>
          <p:cNvSpPr txBox="1">
            <a:spLocks noGrp="1"/>
          </p:cNvSpPr>
          <p:nvPr>
            <p:ph type="title" idx="6"/>
          </p:nvPr>
        </p:nvSpPr>
        <p:spPr>
          <a:xfrm>
            <a:off x="1048450" y="1770700"/>
            <a:ext cx="2067000" cy="72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179" name="Google Shape;179;p40"/>
          <p:cNvSpPr txBox="1">
            <a:spLocks noGrp="1"/>
          </p:cNvSpPr>
          <p:nvPr>
            <p:ph type="title"/>
          </p:nvPr>
        </p:nvSpPr>
        <p:spPr>
          <a:xfrm>
            <a:off x="3538500" y="2629200"/>
            <a:ext cx="2067000" cy="916888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hr-HR" dirty="0"/>
              <a:t>Exercise system</a:t>
            </a:r>
            <a:br>
              <a:rPr lang="hr-HR" dirty="0"/>
            </a:br>
            <a:endParaRPr dirty="0"/>
          </a:p>
        </p:txBody>
      </p:sp>
      <p:sp>
        <p:nvSpPr>
          <p:cNvPr id="181" name="Google Shape;181;p40"/>
          <p:cNvSpPr txBox="1">
            <a:spLocks noGrp="1"/>
          </p:cNvSpPr>
          <p:nvPr>
            <p:ph type="title" idx="2"/>
          </p:nvPr>
        </p:nvSpPr>
        <p:spPr>
          <a:xfrm>
            <a:off x="6340668" y="2601501"/>
            <a:ext cx="1442764" cy="653476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Log system</a:t>
            </a:r>
            <a:endParaRPr dirty="0"/>
          </a:p>
        </p:txBody>
      </p:sp>
      <p:sp>
        <p:nvSpPr>
          <p:cNvPr id="183" name="Google Shape;183;p40"/>
          <p:cNvSpPr txBox="1">
            <a:spLocks noGrp="1"/>
          </p:cNvSpPr>
          <p:nvPr>
            <p:ph type="title" idx="4"/>
          </p:nvPr>
        </p:nvSpPr>
        <p:spPr>
          <a:xfrm>
            <a:off x="1048447" y="2619257"/>
            <a:ext cx="2067000" cy="653476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Food</a:t>
            </a:r>
            <a:br>
              <a:rPr lang="hr-HR" dirty="0"/>
            </a:br>
            <a:r>
              <a:rPr lang="hr-HR" dirty="0"/>
              <a:t>system</a:t>
            </a:r>
            <a:endParaRPr dirty="0"/>
          </a:p>
        </p:txBody>
      </p:sp>
      <p:sp>
        <p:nvSpPr>
          <p:cNvPr id="185" name="Google Shape;185;p40"/>
          <p:cNvSpPr txBox="1">
            <a:spLocks noGrp="1"/>
          </p:cNvSpPr>
          <p:nvPr>
            <p:ph type="title" idx="7"/>
          </p:nvPr>
        </p:nvSpPr>
        <p:spPr>
          <a:xfrm>
            <a:off x="3538500" y="1770700"/>
            <a:ext cx="2067000" cy="72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186" name="Google Shape;186;p40"/>
          <p:cNvSpPr txBox="1">
            <a:spLocks noGrp="1"/>
          </p:cNvSpPr>
          <p:nvPr>
            <p:ph type="title" idx="8"/>
          </p:nvPr>
        </p:nvSpPr>
        <p:spPr>
          <a:xfrm>
            <a:off x="6028550" y="1752846"/>
            <a:ext cx="2067000" cy="72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cxnSp>
        <p:nvCxnSpPr>
          <p:cNvPr id="187" name="Google Shape;187;p40"/>
          <p:cNvCxnSpPr/>
          <p:nvPr/>
        </p:nvCxnSpPr>
        <p:spPr>
          <a:xfrm>
            <a:off x="1883350" y="2546160"/>
            <a:ext cx="3972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cxnSp>
        <p:nvCxnSpPr>
          <p:cNvPr id="188" name="Google Shape;188;p40"/>
          <p:cNvCxnSpPr/>
          <p:nvPr/>
        </p:nvCxnSpPr>
        <p:spPr>
          <a:xfrm>
            <a:off x="4373400" y="2546160"/>
            <a:ext cx="3972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cxnSp>
        <p:nvCxnSpPr>
          <p:cNvPr id="189" name="Google Shape;189;p40"/>
          <p:cNvCxnSpPr/>
          <p:nvPr/>
        </p:nvCxnSpPr>
        <p:spPr>
          <a:xfrm>
            <a:off x="6863450" y="2546160"/>
            <a:ext cx="3972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39"/>
          <p:cNvSpPr txBox="1">
            <a:spLocks noGrp="1"/>
          </p:cNvSpPr>
          <p:nvPr>
            <p:ph type="title"/>
          </p:nvPr>
        </p:nvSpPr>
        <p:spPr>
          <a:xfrm>
            <a:off x="1244255" y="489630"/>
            <a:ext cx="2326889" cy="60136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>
                <a:solidFill>
                  <a:schemeClr val="bg1"/>
                </a:solidFill>
              </a:rPr>
              <a:t>Introduction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171" name="Google Shape;171;p39"/>
          <p:cNvSpPr txBox="1">
            <a:spLocks noGrp="1"/>
          </p:cNvSpPr>
          <p:nvPr>
            <p:ph type="body" idx="1"/>
          </p:nvPr>
        </p:nvSpPr>
        <p:spPr>
          <a:xfrm>
            <a:off x="739479" y="1230657"/>
            <a:ext cx="7692544" cy="36369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>
              <a:lnSpc>
                <a:spcPct val="150000"/>
              </a:lnSpc>
              <a:spcAft>
                <a:spcPts val="1600"/>
              </a:spcAft>
            </a:pPr>
            <a:r>
              <a:rPr lang="hr-HR" sz="1200" dirty="0" smtClean="0"/>
              <a:t>Problem: </a:t>
            </a:r>
            <a:r>
              <a:rPr lang="en-US" sz="1200" dirty="0"/>
              <a:t>Many people struggle to track daily food intake and exercise</a:t>
            </a:r>
            <a:endParaRPr lang="en-US" sz="1200" dirty="0"/>
          </a:p>
          <a:p>
            <a:pPr marL="171450" indent="-171450">
              <a:lnSpc>
                <a:spcPct val="150000"/>
              </a:lnSpc>
              <a:spcAft>
                <a:spcPts val="1600"/>
              </a:spcAft>
            </a:pPr>
            <a:r>
              <a:rPr lang="hr-HR" sz="1200" dirty="0" smtClean="0"/>
              <a:t>Puropse</a:t>
            </a:r>
            <a:r>
              <a:rPr lang="hr-HR" sz="1200" dirty="0"/>
              <a:t>: </a:t>
            </a:r>
            <a:r>
              <a:rPr lang="en-US" sz="1200" dirty="0"/>
              <a:t>Design and implement a food and exercise tracking application.</a:t>
            </a:r>
          </a:p>
          <a:p>
            <a:pPr latinLnBrk="1">
              <a:lnSpc>
                <a:spcPct val="150000"/>
              </a:lnSpc>
            </a:pPr>
            <a:r>
              <a:rPr lang="en-US" sz="1200" dirty="0"/>
              <a:t>What it does:</a:t>
            </a:r>
          </a:p>
          <a:p>
            <a:pPr latinLnBrk="1">
              <a:lnSpc>
                <a:spcPct val="150000"/>
              </a:lnSpc>
            </a:pPr>
            <a:r>
              <a:rPr lang="en-US" sz="1200" dirty="0"/>
              <a:t> Monitor daily nutritional intake</a:t>
            </a:r>
          </a:p>
          <a:p>
            <a:pPr latinLnBrk="1">
              <a:lnSpc>
                <a:spcPct val="150000"/>
              </a:lnSpc>
            </a:pPr>
            <a:r>
              <a:rPr lang="en-US" sz="1200" dirty="0"/>
              <a:t> Track physical activity</a:t>
            </a:r>
          </a:p>
          <a:p>
            <a:pPr latinLnBrk="1">
              <a:lnSpc>
                <a:spcPct val="150000"/>
              </a:lnSpc>
            </a:pPr>
            <a:r>
              <a:rPr lang="en-US" sz="1200" dirty="0"/>
              <a:t> Define custom foods and recipes</a:t>
            </a:r>
          </a:p>
          <a:p>
            <a:pPr latinLnBrk="1">
              <a:lnSpc>
                <a:spcPct val="150000"/>
              </a:lnSpc>
            </a:pPr>
            <a:r>
              <a:rPr lang="en-US" sz="1200" dirty="0"/>
              <a:t> Log daily consumption</a:t>
            </a:r>
          </a:p>
          <a:p>
            <a:pPr latinLnBrk="1">
              <a:lnSpc>
                <a:spcPct val="150000"/>
              </a:lnSpc>
            </a:pPr>
            <a:r>
              <a:rPr lang="en-US" sz="1200" dirty="0"/>
              <a:t>Record exercise</a:t>
            </a:r>
          </a:p>
          <a:p>
            <a:pPr latinLnBrk="1">
              <a:lnSpc>
                <a:spcPct val="150000"/>
              </a:lnSpc>
            </a:pPr>
            <a:r>
              <a:rPr lang="en-US" sz="1200" dirty="0"/>
              <a:t> Track calorie balance over time</a:t>
            </a:r>
          </a:p>
          <a:p>
            <a:pPr latinLnBrk="1">
              <a:lnSpc>
                <a:spcPct val="150000"/>
              </a:lnSpc>
            </a:pPr>
            <a:endParaRPr lang="en-US" sz="1200" dirty="0"/>
          </a:p>
          <a:p>
            <a:pPr latinLnBrk="1">
              <a:lnSpc>
                <a:spcPct val="150000"/>
              </a:lnSpc>
            </a:pPr>
            <a:r>
              <a:rPr lang="en-US" sz="1200" dirty="0"/>
              <a:t>Goal:</a:t>
            </a:r>
            <a:r>
              <a:rPr lang="hr-HR" sz="1200" dirty="0"/>
              <a:t> </a:t>
            </a:r>
            <a:r>
              <a:rPr lang="en-US" sz="1200" dirty="0"/>
              <a:t>Provide users with a clear overview of their eating habits</a:t>
            </a:r>
          </a:p>
          <a:p>
            <a:pPr marL="0" indent="0">
              <a:lnSpc>
                <a:spcPct val="150000"/>
              </a:lnSpc>
              <a:spcAft>
                <a:spcPts val="1600"/>
              </a:spcAft>
              <a:buNone/>
            </a:pPr>
            <a:endParaRPr sz="1200" dirty="0"/>
          </a:p>
        </p:txBody>
      </p:sp>
      <p:cxnSp>
        <p:nvCxnSpPr>
          <p:cNvPr id="172" name="Google Shape;172;p39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173" name="Google Shape;173;p39"/>
          <p:cNvSpPr txBox="1"/>
          <p:nvPr/>
        </p:nvSpPr>
        <p:spPr>
          <a:xfrm>
            <a:off x="938500" y="4221950"/>
            <a:ext cx="6820200" cy="21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endParaRPr sz="1150" dirty="0">
              <a:solidFill>
                <a:schemeClr val="accent2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>
          <a:extLst>
            <a:ext uri="{FF2B5EF4-FFF2-40B4-BE49-F238E27FC236}">
              <a16:creationId xmlns:a16="http://schemas.microsoft.com/office/drawing/2014/main" id="{45EF3ED3-4726-3CE9-9823-533D14B0AD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39">
            <a:extLst>
              <a:ext uri="{FF2B5EF4-FFF2-40B4-BE49-F238E27FC236}">
                <a16:creationId xmlns:a16="http://schemas.microsoft.com/office/drawing/2014/main" id="{C9974397-FDD0-A3A8-48D1-9A6110326B1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30009" y="519366"/>
            <a:ext cx="4847008" cy="60136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Strengths and Weaknesses</a:t>
            </a:r>
            <a:br>
              <a:rPr lang="en-US" b="1" dirty="0">
                <a:solidFill>
                  <a:schemeClr val="bg1"/>
                </a:solidFill>
              </a:rPr>
            </a:br>
            <a:endParaRPr dirty="0">
              <a:solidFill>
                <a:schemeClr val="bg1"/>
              </a:solidFill>
            </a:endParaRPr>
          </a:p>
        </p:txBody>
      </p:sp>
      <p:sp>
        <p:nvSpPr>
          <p:cNvPr id="171" name="Google Shape;171;p39">
            <a:extLst>
              <a:ext uri="{FF2B5EF4-FFF2-40B4-BE49-F238E27FC236}">
                <a16:creationId xmlns:a16="http://schemas.microsoft.com/office/drawing/2014/main" id="{442C4C67-4640-20B1-CBF2-A61986E0354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56116" y="1226072"/>
            <a:ext cx="6602194" cy="366050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atinLnBrk="1">
              <a:lnSpc>
                <a:spcPct val="150000"/>
              </a:lnSpc>
            </a:pPr>
            <a:r>
              <a:rPr lang="hr-HR" sz="1000" dirty="0" smtClean="0"/>
              <a:t>Strenghts:</a:t>
            </a:r>
          </a:p>
          <a:p>
            <a:pPr latinLnBrk="1">
              <a:lnSpc>
                <a:spcPct val="150000"/>
              </a:lnSpc>
            </a:pPr>
            <a:endParaRPr lang="hr-HR" sz="1000" dirty="0" smtClean="0"/>
          </a:p>
          <a:p>
            <a:pPr latinLnBrk="1">
              <a:lnSpc>
                <a:spcPct val="150000"/>
              </a:lnSpc>
              <a:buFont typeface="+mj-lt"/>
              <a:buAutoNum type="arabicPeriod"/>
            </a:pPr>
            <a:r>
              <a:rPr lang="en-US" sz="1000" dirty="0"/>
              <a:t>Clean separation between Food, Exercise, and Log systems</a:t>
            </a:r>
          </a:p>
          <a:p>
            <a:pPr latinLnBrk="1">
              <a:lnSpc>
                <a:spcPct val="150000"/>
              </a:lnSpc>
              <a:buFont typeface="+mj-lt"/>
              <a:buAutoNum type="arabicPeriod"/>
            </a:pPr>
            <a:r>
              <a:rPr lang="en-US" sz="1000" dirty="0" smtClean="0"/>
              <a:t>Repository </a:t>
            </a:r>
            <a:r>
              <a:rPr lang="en-US" sz="1000" dirty="0"/>
              <a:t>Pattern for centralized data storage (</a:t>
            </a:r>
            <a:r>
              <a:rPr lang="en-US" sz="1000" dirty="0" err="1"/>
              <a:t>FoodCollection</a:t>
            </a:r>
            <a:r>
              <a:rPr lang="en-US" sz="1000" dirty="0"/>
              <a:t>, </a:t>
            </a:r>
            <a:r>
              <a:rPr lang="en-US" sz="1000" dirty="0" err="1" smtClean="0"/>
              <a:t>ExerciseCollection</a:t>
            </a:r>
            <a:r>
              <a:rPr lang="hr-HR" sz="1000" dirty="0" smtClean="0"/>
              <a:t>)</a:t>
            </a:r>
          </a:p>
          <a:p>
            <a:pPr latinLnBrk="1">
              <a:lnSpc>
                <a:spcPct val="150000"/>
              </a:lnSpc>
              <a:buFont typeface="+mj-lt"/>
              <a:buAutoNum type="arabicPeriod"/>
            </a:pPr>
            <a:r>
              <a:rPr lang="en-US" sz="1000" dirty="0"/>
              <a:t>CSV loading and saving works correctly for all three </a:t>
            </a:r>
            <a:r>
              <a:rPr lang="en-US" sz="1000" dirty="0" smtClean="0"/>
              <a:t>files</a:t>
            </a:r>
            <a:endParaRPr lang="hr-HR" sz="1000" dirty="0" smtClean="0"/>
          </a:p>
          <a:p>
            <a:pPr latinLnBrk="1">
              <a:lnSpc>
                <a:spcPct val="150000"/>
              </a:lnSpc>
              <a:buFont typeface="+mj-lt"/>
              <a:buAutoNum type="arabicPeriod"/>
            </a:pPr>
            <a:r>
              <a:rPr lang="hr-HR" sz="1000" dirty="0" smtClean="0"/>
              <a:t>Regualar communication via WhatsApp</a:t>
            </a:r>
          </a:p>
          <a:p>
            <a:pPr latinLnBrk="1">
              <a:lnSpc>
                <a:spcPct val="150000"/>
              </a:lnSpc>
              <a:buFont typeface="+mj-lt"/>
              <a:buAutoNum type="arabicPeriod"/>
            </a:pPr>
            <a:r>
              <a:rPr lang="en-US" sz="1000" dirty="0"/>
              <a:t>Command Pattern - enables Undo/Redo for adding food and </a:t>
            </a:r>
            <a:r>
              <a:rPr lang="en-US" sz="1000" dirty="0" smtClean="0"/>
              <a:t>exercise</a:t>
            </a:r>
            <a:endParaRPr lang="hr-HR" sz="1000" dirty="0" smtClean="0"/>
          </a:p>
          <a:p>
            <a:pPr marL="155575" indent="0" latinLnBrk="1">
              <a:lnSpc>
                <a:spcPct val="150000"/>
              </a:lnSpc>
              <a:buNone/>
            </a:pPr>
            <a:endParaRPr lang="hr-HR" sz="1000" dirty="0"/>
          </a:p>
          <a:p>
            <a:pPr latinLnBrk="1">
              <a:lnSpc>
                <a:spcPct val="150000"/>
              </a:lnSpc>
            </a:pPr>
            <a:r>
              <a:rPr lang="hr-HR" sz="1000" dirty="0" smtClean="0"/>
              <a:t>Weaknesses:</a:t>
            </a:r>
          </a:p>
          <a:p>
            <a:pPr latinLnBrk="1">
              <a:lnSpc>
                <a:spcPct val="150000"/>
              </a:lnSpc>
            </a:pPr>
            <a:endParaRPr lang="hr-HR" sz="1000" dirty="0" smtClean="0"/>
          </a:p>
          <a:p>
            <a:pPr latinLnBrk="1">
              <a:lnSpc>
                <a:spcPct val="150000"/>
              </a:lnSpc>
              <a:buFont typeface="+mj-lt"/>
              <a:buAutoNum type="arabicPeriod"/>
            </a:pPr>
            <a:r>
              <a:rPr lang="hr-HR" sz="1000" dirty="0"/>
              <a:t>JavaFX configuration </a:t>
            </a:r>
            <a:r>
              <a:rPr lang="hr-HR" sz="1000" dirty="0" smtClean="0"/>
              <a:t>issues</a:t>
            </a:r>
          </a:p>
          <a:p>
            <a:pPr latinLnBrk="1">
              <a:lnSpc>
                <a:spcPct val="150000"/>
              </a:lnSpc>
              <a:buFont typeface="+mj-lt"/>
              <a:buAutoNum type="arabicPeriod"/>
            </a:pPr>
            <a:r>
              <a:rPr lang="hr-HR" sz="1000" dirty="0" smtClean="0"/>
              <a:t>CSV problems- skipping header line</a:t>
            </a:r>
          </a:p>
          <a:p>
            <a:pPr latinLnBrk="1">
              <a:lnSpc>
                <a:spcPct val="150000"/>
              </a:lnSpc>
              <a:buFont typeface="+mj-lt"/>
              <a:buAutoNum type="arabicPeriod"/>
            </a:pPr>
            <a:r>
              <a:rPr lang="hr-HR" sz="1000" dirty="0" smtClean="0"/>
              <a:t>BartChart not fully implemented, left for end</a:t>
            </a:r>
          </a:p>
          <a:p>
            <a:pPr latinLnBrk="1">
              <a:lnSpc>
                <a:spcPct val="150000"/>
              </a:lnSpc>
              <a:buFont typeface="+mj-lt"/>
              <a:buAutoNum type="arabicPeriod"/>
            </a:pPr>
            <a:r>
              <a:rPr lang="hr-HR" sz="1000" dirty="0" smtClean="0"/>
              <a:t>Code duplication - </a:t>
            </a:r>
            <a:r>
              <a:rPr lang="en-US" sz="1000" dirty="0" err="1"/>
              <a:t>FoodCollection</a:t>
            </a:r>
            <a:r>
              <a:rPr lang="en-US" sz="1000" dirty="0"/>
              <a:t> and </a:t>
            </a:r>
            <a:r>
              <a:rPr lang="en-US" sz="1000" dirty="0" err="1"/>
              <a:t>ExerciseCollection</a:t>
            </a:r>
            <a:r>
              <a:rPr lang="en-US" sz="1000" dirty="0"/>
              <a:t> have almost identical code</a:t>
            </a:r>
            <a:endParaRPr lang="hr-HR" sz="1000" dirty="0"/>
          </a:p>
          <a:p>
            <a:pPr latinLnBrk="1">
              <a:lnSpc>
                <a:spcPct val="150000"/>
              </a:lnSpc>
              <a:buFont typeface="+mj-lt"/>
              <a:buAutoNum type="arabicPeriod"/>
            </a:pPr>
            <a:endParaRPr lang="hr-HR" sz="1000" dirty="0"/>
          </a:p>
          <a:p>
            <a:pPr latinLnBrk="1">
              <a:lnSpc>
                <a:spcPct val="150000"/>
              </a:lnSpc>
              <a:buFont typeface="+mj-lt"/>
              <a:buAutoNum type="arabicPeriod"/>
            </a:pPr>
            <a:endParaRPr sz="1000" dirty="0"/>
          </a:p>
        </p:txBody>
      </p:sp>
      <p:cxnSp>
        <p:nvCxnSpPr>
          <p:cNvPr id="172" name="Google Shape;172;p39">
            <a:extLst>
              <a:ext uri="{FF2B5EF4-FFF2-40B4-BE49-F238E27FC236}">
                <a16:creationId xmlns:a16="http://schemas.microsoft.com/office/drawing/2014/main" id="{644BF201-D20A-B5EF-A9AB-7DE614A70836}"/>
              </a:ext>
            </a:extLst>
          </p:cNvPr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173" name="Google Shape;173;p39">
            <a:extLst>
              <a:ext uri="{FF2B5EF4-FFF2-40B4-BE49-F238E27FC236}">
                <a16:creationId xmlns:a16="http://schemas.microsoft.com/office/drawing/2014/main" id="{2D7FB69D-4C90-708E-AE8F-5FECC1AB28B2}"/>
              </a:ext>
            </a:extLst>
          </p:cNvPr>
          <p:cNvSpPr txBox="1"/>
          <p:nvPr/>
        </p:nvSpPr>
        <p:spPr>
          <a:xfrm>
            <a:off x="938500" y="4221950"/>
            <a:ext cx="6820200" cy="21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endParaRPr sz="1150" dirty="0">
              <a:solidFill>
                <a:schemeClr val="accent2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</p:spTree>
    <p:extLst>
      <p:ext uri="{BB962C8B-B14F-4D97-AF65-F5344CB8AC3E}">
        <p14:creationId xmlns:p14="http://schemas.microsoft.com/office/powerpoint/2010/main" val="26142691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>
          <a:extLst>
            <a:ext uri="{FF2B5EF4-FFF2-40B4-BE49-F238E27FC236}">
              <a16:creationId xmlns:a16="http://schemas.microsoft.com/office/drawing/2014/main" id="{98E0ACB4-4ACE-52FA-292B-288EF6CAB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39">
            <a:extLst>
              <a:ext uri="{FF2B5EF4-FFF2-40B4-BE49-F238E27FC236}">
                <a16:creationId xmlns:a16="http://schemas.microsoft.com/office/drawing/2014/main" id="{68D20EF3-6A97-8077-99C5-DE8CEB797EF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43827" y="519366"/>
            <a:ext cx="3327745" cy="60136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>
                <a:solidFill>
                  <a:schemeClr val="bg1"/>
                </a:solidFill>
              </a:rPr>
              <a:t>Food system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171" name="Google Shape;171;p39">
            <a:extLst>
              <a:ext uri="{FF2B5EF4-FFF2-40B4-BE49-F238E27FC236}">
                <a16:creationId xmlns:a16="http://schemas.microsoft.com/office/drawing/2014/main" id="{46E2E523-F4B6-0258-E7CF-ACA8C1CE09D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3217" y="1226072"/>
            <a:ext cx="4643794" cy="34834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atinLnBrk="1">
              <a:lnSpc>
                <a:spcPct val="150000"/>
              </a:lnSpc>
            </a:pPr>
            <a:r>
              <a:rPr lang="hr-HR" sz="1100" dirty="0"/>
              <a:t> </a:t>
            </a:r>
            <a:r>
              <a:rPr lang="en-US" sz="1100" dirty="0"/>
              <a:t>Stores and manages all food items. Allows users to add foods, search by name, </a:t>
            </a:r>
          </a:p>
          <a:p>
            <a:pPr marL="155575" indent="0" latinLnBrk="1">
              <a:lnSpc>
                <a:spcPct val="150000"/>
              </a:lnSpc>
              <a:buNone/>
            </a:pPr>
            <a:r>
              <a:rPr lang="hr-HR" sz="1100" dirty="0"/>
              <a:t>     </a:t>
            </a:r>
            <a:r>
              <a:rPr lang="en-US" sz="1100" dirty="0"/>
              <a:t>and calculate calories and nutrients for each serving.</a:t>
            </a:r>
          </a:p>
          <a:p>
            <a:pPr latinLnBrk="1">
              <a:lnSpc>
                <a:spcPct val="150000"/>
              </a:lnSpc>
            </a:pPr>
            <a:r>
              <a:rPr lang="en-US" sz="1100" dirty="0" err="1"/>
              <a:t>FoodItem</a:t>
            </a:r>
            <a:r>
              <a:rPr lang="hr-HR" sz="1100" dirty="0"/>
              <a:t>:</a:t>
            </a:r>
            <a:endParaRPr lang="en-US" sz="1100" dirty="0"/>
          </a:p>
          <a:p>
            <a:pPr marL="155575" indent="0" latinLnBrk="1">
              <a:lnSpc>
                <a:spcPct val="150000"/>
              </a:lnSpc>
              <a:buNone/>
            </a:pPr>
            <a:r>
              <a:rPr lang="hr-HR" sz="1100" dirty="0"/>
              <a:t>             </a:t>
            </a:r>
            <a:r>
              <a:rPr lang="en-US" sz="1100" dirty="0"/>
              <a:t>Represents a single basic food (Apple, Bread, </a:t>
            </a:r>
            <a:r>
              <a:rPr lang="en-US" sz="1100" dirty="0" smtClean="0"/>
              <a:t>Chicken)</a:t>
            </a:r>
            <a:endParaRPr lang="hr-HR" sz="1100" dirty="0"/>
          </a:p>
          <a:p>
            <a:pPr marL="155575" indent="0" latinLnBrk="1">
              <a:lnSpc>
                <a:spcPct val="150000"/>
              </a:lnSpc>
              <a:buNone/>
            </a:pPr>
            <a:r>
              <a:rPr lang="hr-HR" sz="1100" dirty="0"/>
              <a:t>             </a:t>
            </a:r>
            <a:r>
              <a:rPr lang="en-US" sz="1100" dirty="0"/>
              <a:t>Stores name, calories, fat, carbs, protein</a:t>
            </a:r>
          </a:p>
          <a:p>
            <a:pPr marL="155575" indent="0" latinLnBrk="1">
              <a:lnSpc>
                <a:spcPct val="150000"/>
              </a:lnSpc>
              <a:buNone/>
            </a:pPr>
            <a:r>
              <a:rPr lang="hr-HR" sz="1100" dirty="0"/>
              <a:t>             </a:t>
            </a:r>
            <a:r>
              <a:rPr lang="en-US" sz="1100" dirty="0"/>
              <a:t>Provides getters to access nutritional data</a:t>
            </a:r>
          </a:p>
          <a:p>
            <a:pPr>
              <a:lnSpc>
                <a:spcPct val="150000"/>
              </a:lnSpc>
            </a:pPr>
            <a:endParaRPr lang="hr-HR" sz="1100" dirty="0"/>
          </a:p>
          <a:p>
            <a:pPr latinLnBrk="1">
              <a:lnSpc>
                <a:spcPct val="150000"/>
              </a:lnSpc>
            </a:pPr>
            <a:r>
              <a:rPr lang="en-US" sz="1100" dirty="0" err="1"/>
              <a:t>FoodCollection</a:t>
            </a:r>
            <a:r>
              <a:rPr lang="hr-HR" sz="1100" dirty="0"/>
              <a:t>:</a:t>
            </a:r>
          </a:p>
          <a:p>
            <a:pPr marL="155575" indent="0" latinLnBrk="1">
              <a:lnSpc>
                <a:spcPct val="150000"/>
              </a:lnSpc>
              <a:buNone/>
            </a:pPr>
            <a:r>
              <a:rPr lang="hr-HR" sz="1100" dirty="0"/>
              <a:t>             </a:t>
            </a:r>
            <a:r>
              <a:rPr lang="en-US" sz="1100" dirty="0"/>
              <a:t>Manages all </a:t>
            </a:r>
            <a:r>
              <a:rPr lang="en-US" sz="1100" dirty="0" err="1"/>
              <a:t>FoodItem</a:t>
            </a:r>
            <a:r>
              <a:rPr lang="en-US" sz="1100" dirty="0"/>
              <a:t> objects in a HashMap</a:t>
            </a:r>
          </a:p>
          <a:p>
            <a:pPr marL="155575" indent="0" latinLnBrk="1">
              <a:lnSpc>
                <a:spcPct val="150000"/>
              </a:lnSpc>
              <a:buNone/>
            </a:pPr>
            <a:r>
              <a:rPr lang="hr-HR" sz="1100" dirty="0"/>
              <a:t>             </a:t>
            </a:r>
            <a:r>
              <a:rPr lang="en-US" sz="1100" dirty="0"/>
              <a:t>Key is food name</a:t>
            </a:r>
            <a:r>
              <a:rPr lang="hr-HR" sz="1100" dirty="0"/>
              <a:t>, </a:t>
            </a:r>
            <a:r>
              <a:rPr lang="en-US" sz="1100" dirty="0"/>
              <a:t>value is </a:t>
            </a:r>
            <a:r>
              <a:rPr lang="en-US" sz="1100" dirty="0" err="1"/>
              <a:t>FoodItem</a:t>
            </a:r>
            <a:endParaRPr lang="en-US" sz="1100" dirty="0"/>
          </a:p>
          <a:p>
            <a:pPr marL="155575" indent="0" latinLnBrk="1">
              <a:lnSpc>
                <a:spcPct val="150000"/>
              </a:lnSpc>
              <a:buNone/>
            </a:pPr>
            <a:r>
              <a:rPr lang="hr-HR" sz="1100" dirty="0"/>
              <a:t>             </a:t>
            </a:r>
            <a:r>
              <a:rPr lang="en-US" sz="1100" dirty="0" err="1"/>
              <a:t>addFood</a:t>
            </a:r>
            <a:r>
              <a:rPr lang="en-US" sz="1100" dirty="0"/>
              <a:t>() - adds new food to collection</a:t>
            </a:r>
          </a:p>
          <a:p>
            <a:pPr marL="155575" indent="0">
              <a:lnSpc>
                <a:spcPct val="150000"/>
              </a:lnSpc>
              <a:buNone/>
            </a:pPr>
            <a:r>
              <a:rPr lang="en-US" sz="1100" dirty="0"/>
              <a:t/>
            </a:r>
            <a:br>
              <a:rPr lang="en-US" sz="1100" dirty="0"/>
            </a:br>
            <a:endParaRPr sz="1100" dirty="0"/>
          </a:p>
        </p:txBody>
      </p:sp>
      <p:cxnSp>
        <p:nvCxnSpPr>
          <p:cNvPr id="172" name="Google Shape;172;p39">
            <a:extLst>
              <a:ext uri="{FF2B5EF4-FFF2-40B4-BE49-F238E27FC236}">
                <a16:creationId xmlns:a16="http://schemas.microsoft.com/office/drawing/2014/main" id="{84F121AB-4AC5-6B3C-12D9-BBE2D20C7738}"/>
              </a:ext>
            </a:extLst>
          </p:cNvPr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7011" y="886899"/>
            <a:ext cx="4003563" cy="3459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32577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>
          <a:extLst>
            <a:ext uri="{FF2B5EF4-FFF2-40B4-BE49-F238E27FC236}">
              <a16:creationId xmlns:a16="http://schemas.microsoft.com/office/drawing/2014/main" id="{096E9ACD-EB5E-FFEC-7F28-2FED85B4FF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39">
            <a:extLst>
              <a:ext uri="{FF2B5EF4-FFF2-40B4-BE49-F238E27FC236}">
                <a16:creationId xmlns:a16="http://schemas.microsoft.com/office/drawing/2014/main" id="{33D6C34B-154B-5CDE-BFEE-8155746EF7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43827" y="519366"/>
            <a:ext cx="3327745" cy="60136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>
                <a:solidFill>
                  <a:schemeClr val="bg1"/>
                </a:solidFill>
              </a:rPr>
              <a:t>Exercise system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171" name="Google Shape;171;p39">
            <a:extLst>
              <a:ext uri="{FF2B5EF4-FFF2-40B4-BE49-F238E27FC236}">
                <a16:creationId xmlns:a16="http://schemas.microsoft.com/office/drawing/2014/main" id="{CEC81B40-7386-8EC4-3EC3-06A6B7AA1D5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52547" y="1065654"/>
            <a:ext cx="4310303" cy="390510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atinLnBrk="1">
              <a:lnSpc>
                <a:spcPct val="150000"/>
              </a:lnSpc>
            </a:pPr>
            <a:r>
              <a:rPr lang="en-US" sz="1100" dirty="0"/>
              <a:t>Stores exercise activities and calculates how many </a:t>
            </a:r>
            <a:r>
              <a:rPr lang="hr-HR" sz="1100" dirty="0" smtClean="0"/>
              <a:t>c</a:t>
            </a:r>
            <a:r>
              <a:rPr lang="en-US" sz="1100" dirty="0" err="1" smtClean="0"/>
              <a:t>alories</a:t>
            </a:r>
            <a:r>
              <a:rPr lang="en-US" sz="1100" dirty="0" smtClean="0"/>
              <a:t> </a:t>
            </a:r>
            <a:r>
              <a:rPr lang="en-US" sz="1100" dirty="0"/>
              <a:t>a user burns </a:t>
            </a:r>
          </a:p>
          <a:p>
            <a:pPr marL="155575" indent="0" latinLnBrk="1">
              <a:lnSpc>
                <a:spcPct val="150000"/>
              </a:lnSpc>
              <a:buNone/>
            </a:pPr>
            <a:r>
              <a:rPr lang="hr-HR" sz="1100" dirty="0"/>
              <a:t>        </a:t>
            </a:r>
            <a:r>
              <a:rPr lang="en-US" sz="1100" dirty="0"/>
              <a:t>based on their weight and how long they exercise.</a:t>
            </a:r>
          </a:p>
          <a:p>
            <a:pPr marL="155575" indent="0">
              <a:lnSpc>
                <a:spcPct val="150000"/>
              </a:lnSpc>
              <a:buNone/>
            </a:pPr>
            <a:endParaRPr lang="hr-HR" sz="1100" dirty="0"/>
          </a:p>
          <a:p>
            <a:pPr latinLnBrk="1">
              <a:lnSpc>
                <a:spcPct val="150000"/>
              </a:lnSpc>
            </a:pPr>
            <a:r>
              <a:rPr lang="en-US" sz="1100" dirty="0"/>
              <a:t>Exercise</a:t>
            </a:r>
            <a:r>
              <a:rPr lang="hr-HR" sz="1100" dirty="0"/>
              <a:t>:</a:t>
            </a:r>
          </a:p>
          <a:p>
            <a:pPr marL="155575" indent="0" latinLnBrk="1">
              <a:lnSpc>
                <a:spcPct val="150000"/>
              </a:lnSpc>
              <a:buNone/>
            </a:pPr>
            <a:r>
              <a:rPr lang="hr-HR" sz="1100" dirty="0"/>
              <a:t>             </a:t>
            </a:r>
            <a:r>
              <a:rPr lang="en-US" sz="1100" dirty="0"/>
              <a:t>Represents a physical activity (Gardening, Jogging, Swimming)</a:t>
            </a:r>
          </a:p>
          <a:p>
            <a:pPr marL="155575" indent="0" latinLnBrk="1">
              <a:lnSpc>
                <a:spcPct val="150000"/>
              </a:lnSpc>
              <a:buNone/>
            </a:pPr>
            <a:r>
              <a:rPr lang="hr-HR" sz="1100" dirty="0"/>
              <a:t>             </a:t>
            </a:r>
            <a:r>
              <a:rPr lang="en-US" sz="1100" dirty="0"/>
              <a:t>Stores name and </a:t>
            </a:r>
            <a:r>
              <a:rPr lang="en-US" sz="1100" dirty="0" err="1"/>
              <a:t>burnRate</a:t>
            </a:r>
            <a:r>
              <a:rPr lang="en-US" sz="1100" dirty="0"/>
              <a:t> (calories per hour for 100 pound person)</a:t>
            </a:r>
            <a:endParaRPr lang="hr-HR" sz="1100" dirty="0"/>
          </a:p>
          <a:p>
            <a:pPr latinLnBrk="1">
              <a:lnSpc>
                <a:spcPct val="150000"/>
              </a:lnSpc>
            </a:pPr>
            <a:r>
              <a:rPr lang="en-US" sz="1100" dirty="0" err="1"/>
              <a:t>ExerciseCollection</a:t>
            </a:r>
            <a:r>
              <a:rPr lang="hr-HR" sz="1100" dirty="0"/>
              <a:t>:</a:t>
            </a:r>
          </a:p>
          <a:p>
            <a:pPr marL="155575" indent="0" latinLnBrk="1">
              <a:lnSpc>
                <a:spcPct val="150000"/>
              </a:lnSpc>
              <a:buNone/>
            </a:pPr>
            <a:r>
              <a:rPr lang="hr-HR" sz="1100" dirty="0"/>
              <a:t>            </a:t>
            </a:r>
            <a:r>
              <a:rPr lang="en-US" sz="1100" dirty="0"/>
              <a:t> Manages all Exercise objects in a HashMap</a:t>
            </a:r>
          </a:p>
          <a:p>
            <a:pPr marL="155575" indent="0" latinLnBrk="1">
              <a:lnSpc>
                <a:spcPct val="150000"/>
              </a:lnSpc>
              <a:buNone/>
            </a:pPr>
            <a:r>
              <a:rPr lang="hr-HR" sz="1100" dirty="0"/>
              <a:t>             </a:t>
            </a:r>
            <a:r>
              <a:rPr lang="en-US" sz="1100" dirty="0"/>
              <a:t>Key is exercise name (lowercase), value is Exercise</a:t>
            </a:r>
          </a:p>
          <a:p>
            <a:pPr latinLnBrk="1">
              <a:lnSpc>
                <a:spcPct val="150000"/>
              </a:lnSpc>
            </a:pPr>
            <a:endParaRPr lang="hr-HR" sz="1100" dirty="0"/>
          </a:p>
          <a:p>
            <a:pPr latinLnBrk="1">
              <a:lnSpc>
                <a:spcPct val="150000"/>
              </a:lnSpc>
            </a:pPr>
            <a:r>
              <a:rPr lang="en-US" sz="1100" dirty="0" err="1"/>
              <a:t>ExerciseEntry</a:t>
            </a:r>
            <a:r>
              <a:rPr lang="hr-HR" sz="1100" dirty="0"/>
              <a:t>: </a:t>
            </a:r>
            <a:r>
              <a:rPr lang="en-US" sz="1100" dirty="0"/>
              <a:t> Connects an Exercise with a number of minutes</a:t>
            </a:r>
          </a:p>
          <a:p>
            <a:pPr latinLnBrk="1">
              <a:lnSpc>
                <a:spcPct val="150000"/>
              </a:lnSpc>
            </a:pPr>
            <a:endParaRPr lang="hr-HR" sz="1100" dirty="0"/>
          </a:p>
          <a:p>
            <a:pPr marL="155575" indent="0" latinLnBrk="1">
              <a:lnSpc>
                <a:spcPct val="150000"/>
              </a:lnSpc>
              <a:buNone/>
            </a:pPr>
            <a:endParaRPr lang="en-US" sz="1100" dirty="0"/>
          </a:p>
          <a:p>
            <a:pPr>
              <a:lnSpc>
                <a:spcPct val="150000"/>
              </a:lnSpc>
            </a:pPr>
            <a:endParaRPr lang="hr-HR" sz="1100" dirty="0"/>
          </a:p>
          <a:p>
            <a:pPr marL="155575" indent="0">
              <a:lnSpc>
                <a:spcPct val="150000"/>
              </a:lnSpc>
              <a:buNone/>
            </a:pPr>
            <a:r>
              <a:rPr lang="en-US" sz="1100" dirty="0"/>
              <a:t/>
            </a:r>
            <a:br>
              <a:rPr lang="en-US" sz="1100" dirty="0"/>
            </a:br>
            <a:r>
              <a:rPr lang="hr-HR" sz="1100" dirty="0"/>
              <a:t> </a:t>
            </a:r>
            <a:endParaRPr sz="1100" dirty="0"/>
          </a:p>
        </p:txBody>
      </p:sp>
      <p:cxnSp>
        <p:nvCxnSpPr>
          <p:cNvPr id="172" name="Google Shape;172;p39">
            <a:extLst>
              <a:ext uri="{FF2B5EF4-FFF2-40B4-BE49-F238E27FC236}">
                <a16:creationId xmlns:a16="http://schemas.microsoft.com/office/drawing/2014/main" id="{19D08D8E-B5B1-D9EF-9A7D-9E01CC305C54}"/>
              </a:ext>
            </a:extLst>
          </p:cNvPr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173" name="Google Shape;173;p39">
            <a:extLst>
              <a:ext uri="{FF2B5EF4-FFF2-40B4-BE49-F238E27FC236}">
                <a16:creationId xmlns:a16="http://schemas.microsoft.com/office/drawing/2014/main" id="{D87F38A5-01B3-9E08-32FA-5452BDDDF41E}"/>
              </a:ext>
            </a:extLst>
          </p:cNvPr>
          <p:cNvSpPr txBox="1"/>
          <p:nvPr/>
        </p:nvSpPr>
        <p:spPr>
          <a:xfrm>
            <a:off x="938500" y="4221950"/>
            <a:ext cx="6820200" cy="21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endParaRPr sz="1150" dirty="0">
              <a:solidFill>
                <a:schemeClr val="accent2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9606" y="1251284"/>
            <a:ext cx="3961453" cy="3244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16121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>
          <a:extLst>
            <a:ext uri="{FF2B5EF4-FFF2-40B4-BE49-F238E27FC236}">
              <a16:creationId xmlns:a16="http://schemas.microsoft.com/office/drawing/2014/main" id="{45EF3ED3-4726-3CE9-9823-533D14B0AD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39">
            <a:extLst>
              <a:ext uri="{FF2B5EF4-FFF2-40B4-BE49-F238E27FC236}">
                <a16:creationId xmlns:a16="http://schemas.microsoft.com/office/drawing/2014/main" id="{C9974397-FDD0-A3A8-48D1-9A6110326B1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43827" y="519366"/>
            <a:ext cx="3327745" cy="60136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>
                <a:solidFill>
                  <a:schemeClr val="bg1"/>
                </a:solidFill>
              </a:rPr>
              <a:t>Log system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171" name="Google Shape;171;p39">
            <a:extLst>
              <a:ext uri="{FF2B5EF4-FFF2-40B4-BE49-F238E27FC236}">
                <a16:creationId xmlns:a16="http://schemas.microsoft.com/office/drawing/2014/main" id="{442C4C67-4640-20B1-CBF2-A61986E0354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9868" y="1120729"/>
            <a:ext cx="5096528" cy="366050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atinLnBrk="1">
              <a:lnSpc>
                <a:spcPct val="150000"/>
              </a:lnSpc>
            </a:pPr>
            <a:r>
              <a:rPr lang="hr-HR" sz="1000" dirty="0"/>
              <a:t> </a:t>
            </a:r>
            <a:r>
              <a:rPr lang="en-US" sz="1000" dirty="0"/>
              <a:t>Tracks all user activities for a specific date. Combines food intake and </a:t>
            </a:r>
          </a:p>
          <a:p>
            <a:pPr marL="155575" indent="0" latinLnBrk="1">
              <a:lnSpc>
                <a:spcPct val="150000"/>
              </a:lnSpc>
              <a:buNone/>
            </a:pPr>
            <a:r>
              <a:rPr lang="hr-HR" sz="1000" dirty="0"/>
              <a:t>          </a:t>
            </a:r>
            <a:r>
              <a:rPr lang="en-US" sz="1000" dirty="0"/>
              <a:t>exercise, calculates totals, and shows if user meets calorie goals.</a:t>
            </a:r>
            <a:endParaRPr lang="hr-HR" sz="1000" dirty="0"/>
          </a:p>
          <a:p>
            <a:pPr marL="155575" indent="0" latinLnBrk="1">
              <a:lnSpc>
                <a:spcPct val="150000"/>
              </a:lnSpc>
              <a:buNone/>
            </a:pPr>
            <a:endParaRPr lang="en-US" sz="1000" dirty="0"/>
          </a:p>
          <a:p>
            <a:pPr latinLnBrk="1">
              <a:lnSpc>
                <a:spcPct val="150000"/>
              </a:lnSpc>
            </a:pPr>
            <a:r>
              <a:rPr lang="en-US" sz="1000" dirty="0" err="1"/>
              <a:t>DailyLog</a:t>
            </a:r>
            <a:r>
              <a:rPr lang="hr-HR" sz="1000" dirty="0"/>
              <a:t>: </a:t>
            </a:r>
            <a:r>
              <a:rPr lang="en-US" sz="1000" dirty="0"/>
              <a:t> </a:t>
            </a:r>
            <a:endParaRPr lang="hr-HR" sz="1000" dirty="0"/>
          </a:p>
          <a:p>
            <a:pPr marL="155575" indent="0" latinLnBrk="1">
              <a:lnSpc>
                <a:spcPct val="150000"/>
              </a:lnSpc>
              <a:buNone/>
            </a:pPr>
            <a:r>
              <a:rPr lang="hr-HR" sz="1000" dirty="0"/>
              <a:t>             </a:t>
            </a:r>
            <a:r>
              <a:rPr lang="en-US" sz="1000" dirty="0"/>
              <a:t>Represents one single day </a:t>
            </a:r>
            <a:endParaRPr lang="hr-HR" sz="1000" dirty="0"/>
          </a:p>
          <a:p>
            <a:pPr marL="155575" indent="0" latinLnBrk="1">
              <a:lnSpc>
                <a:spcPct val="150000"/>
              </a:lnSpc>
              <a:buNone/>
            </a:pPr>
            <a:r>
              <a:rPr lang="hr-HR" sz="1000" dirty="0"/>
              <a:t>             Stores list of LogEntry and ExerciseEntry</a:t>
            </a:r>
          </a:p>
          <a:p>
            <a:pPr marL="155575" indent="0" latinLnBrk="1">
              <a:lnSpc>
                <a:spcPct val="150000"/>
              </a:lnSpc>
              <a:buNone/>
            </a:pPr>
            <a:r>
              <a:rPr lang="hr-HR" sz="1000" dirty="0"/>
              <a:t>             </a:t>
            </a:r>
            <a:r>
              <a:rPr lang="en-US" sz="1000" dirty="0"/>
              <a:t>Stores weight and </a:t>
            </a:r>
            <a:r>
              <a:rPr lang="en-US" sz="1000" dirty="0" err="1"/>
              <a:t>calorieLimit</a:t>
            </a:r>
            <a:r>
              <a:rPr lang="en-US" sz="1000" dirty="0"/>
              <a:t> for that day</a:t>
            </a:r>
          </a:p>
          <a:p>
            <a:pPr marL="155575" indent="0" latinLnBrk="1">
              <a:lnSpc>
                <a:spcPct val="150000"/>
              </a:lnSpc>
              <a:buNone/>
            </a:pPr>
            <a:endParaRPr lang="hr-HR" sz="1000" dirty="0"/>
          </a:p>
          <a:p>
            <a:pPr latinLnBrk="1">
              <a:lnSpc>
                <a:spcPct val="150000"/>
              </a:lnSpc>
            </a:pPr>
            <a:r>
              <a:rPr lang="en-US" sz="1000" dirty="0" err="1"/>
              <a:t>LogManager</a:t>
            </a:r>
            <a:r>
              <a:rPr lang="hr-HR" sz="1000" dirty="0"/>
              <a:t>:</a:t>
            </a:r>
            <a:endParaRPr lang="en-US" sz="1000" dirty="0"/>
          </a:p>
          <a:p>
            <a:pPr marL="155575" indent="0" latinLnBrk="1">
              <a:lnSpc>
                <a:spcPct val="150000"/>
              </a:lnSpc>
              <a:buNone/>
            </a:pPr>
            <a:r>
              <a:rPr lang="hr-HR" sz="1000" dirty="0"/>
              <a:t>             </a:t>
            </a:r>
            <a:r>
              <a:rPr lang="en-US" sz="1000" dirty="0"/>
              <a:t>Manages all </a:t>
            </a:r>
            <a:r>
              <a:rPr lang="en-US" sz="1000" dirty="0" err="1"/>
              <a:t>DailyLog</a:t>
            </a:r>
            <a:r>
              <a:rPr lang="en-US" sz="1000" dirty="0"/>
              <a:t> objects in a HashMap</a:t>
            </a:r>
          </a:p>
          <a:p>
            <a:pPr marL="155575" indent="0" latinLnBrk="1">
              <a:lnSpc>
                <a:spcPct val="150000"/>
              </a:lnSpc>
              <a:buNone/>
            </a:pPr>
            <a:r>
              <a:rPr lang="hr-HR" sz="1000" dirty="0"/>
              <a:t>             </a:t>
            </a:r>
            <a:r>
              <a:rPr lang="en-US" sz="1000" dirty="0"/>
              <a:t>Key is </a:t>
            </a:r>
            <a:r>
              <a:rPr lang="en-US" sz="1000" dirty="0" err="1"/>
              <a:t>LocalDate</a:t>
            </a:r>
            <a:r>
              <a:rPr lang="en-US" sz="1000" dirty="0"/>
              <a:t>, value is </a:t>
            </a:r>
            <a:r>
              <a:rPr lang="en-US" sz="1000" dirty="0" err="1"/>
              <a:t>DailyLog</a:t>
            </a:r>
            <a:endParaRPr lang="en-US" sz="1000" dirty="0"/>
          </a:p>
          <a:p>
            <a:pPr latinLnBrk="1">
              <a:lnSpc>
                <a:spcPct val="150000"/>
              </a:lnSpc>
            </a:pPr>
            <a:endParaRPr lang="en-US" sz="1000" dirty="0"/>
          </a:p>
          <a:p>
            <a:pPr latinLnBrk="1">
              <a:lnSpc>
                <a:spcPct val="150000"/>
              </a:lnSpc>
            </a:pPr>
            <a:r>
              <a:rPr lang="en-US" sz="1000" dirty="0"/>
              <a:t>Nutrients</a:t>
            </a:r>
            <a:r>
              <a:rPr lang="hr-HR" sz="1000" dirty="0"/>
              <a:t>:</a:t>
            </a:r>
            <a:endParaRPr lang="en-US" sz="1000" dirty="0"/>
          </a:p>
          <a:p>
            <a:pPr marL="155575" indent="0" latinLnBrk="1">
              <a:lnSpc>
                <a:spcPct val="150000"/>
              </a:lnSpc>
              <a:buNone/>
            </a:pPr>
            <a:r>
              <a:rPr lang="hr-HR" sz="1000" dirty="0"/>
              <a:t>              </a:t>
            </a:r>
            <a:r>
              <a:rPr lang="en-US" sz="1000" dirty="0"/>
              <a:t>Stores total fat, carbs, protein in grams</a:t>
            </a:r>
            <a:endParaRPr lang="hr-HR" sz="1000" dirty="0"/>
          </a:p>
          <a:p>
            <a:pPr marL="155575" indent="0" latinLnBrk="1">
              <a:lnSpc>
                <a:spcPct val="150000"/>
              </a:lnSpc>
              <a:buNone/>
            </a:pPr>
            <a:r>
              <a:rPr lang="hr-HR" sz="1000" dirty="0"/>
              <a:t>             </a:t>
            </a:r>
            <a:r>
              <a:rPr lang="en-US" sz="1000" dirty="0"/>
              <a:t> Calculates percentages for display</a:t>
            </a:r>
          </a:p>
          <a:p>
            <a:pPr marL="171450" indent="-171450">
              <a:lnSpc>
                <a:spcPct val="150000"/>
              </a:lnSpc>
              <a:spcAft>
                <a:spcPts val="1600"/>
              </a:spcAft>
            </a:pPr>
            <a:endParaRPr lang="hr-HR" sz="1000" dirty="0"/>
          </a:p>
          <a:p>
            <a:pPr marL="0" indent="0">
              <a:lnSpc>
                <a:spcPct val="150000"/>
              </a:lnSpc>
              <a:spcAft>
                <a:spcPts val="1600"/>
              </a:spcAft>
              <a:buNone/>
            </a:pPr>
            <a:r>
              <a:rPr lang="hr-HR" sz="1000" dirty="0"/>
              <a:t> </a:t>
            </a:r>
            <a:endParaRPr sz="1000" dirty="0"/>
          </a:p>
        </p:txBody>
      </p:sp>
      <p:cxnSp>
        <p:nvCxnSpPr>
          <p:cNvPr id="172" name="Google Shape;172;p39">
            <a:extLst>
              <a:ext uri="{FF2B5EF4-FFF2-40B4-BE49-F238E27FC236}">
                <a16:creationId xmlns:a16="http://schemas.microsoft.com/office/drawing/2014/main" id="{644BF201-D20A-B5EF-A9AB-7DE614A70836}"/>
              </a:ext>
            </a:extLst>
          </p:cNvPr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173" name="Google Shape;173;p39">
            <a:extLst>
              <a:ext uri="{FF2B5EF4-FFF2-40B4-BE49-F238E27FC236}">
                <a16:creationId xmlns:a16="http://schemas.microsoft.com/office/drawing/2014/main" id="{2D7FB69D-4C90-708E-AE8F-5FECC1AB28B2}"/>
              </a:ext>
            </a:extLst>
          </p:cNvPr>
          <p:cNvSpPr txBox="1"/>
          <p:nvPr/>
        </p:nvSpPr>
        <p:spPr>
          <a:xfrm>
            <a:off x="938500" y="4221950"/>
            <a:ext cx="6820200" cy="21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endParaRPr sz="1150" dirty="0">
              <a:solidFill>
                <a:schemeClr val="accent2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</p:spTree>
    <p:extLst>
      <p:ext uri="{BB962C8B-B14F-4D97-AF65-F5344CB8AC3E}">
        <p14:creationId xmlns:p14="http://schemas.microsoft.com/office/powerpoint/2010/main" val="20297138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BC15D989-D155-70D8-BB15-874A8CB1DD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2106" y="185853"/>
            <a:ext cx="5791597" cy="477179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41"/>
          <p:cNvSpPr txBox="1">
            <a:spLocks noGrp="1"/>
          </p:cNvSpPr>
          <p:nvPr>
            <p:ph type="ctrTitle"/>
          </p:nvPr>
        </p:nvSpPr>
        <p:spPr>
          <a:xfrm>
            <a:off x="4237010" y="1780309"/>
            <a:ext cx="4380518" cy="227222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sz="4400" dirty="0"/>
              <a:t>Thank you for your attention!!! </a:t>
            </a:r>
            <a:endParaRPr sz="4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Futuristic Background by Slidesgo">
  <a:themeElements>
    <a:clrScheme name="Simple Light">
      <a:dk1>
        <a:srgbClr val="001633"/>
      </a:dk1>
      <a:lt1>
        <a:srgbClr val="FFFFFF"/>
      </a:lt1>
      <a:dk2>
        <a:srgbClr val="85D5E6"/>
      </a:dk2>
      <a:lt2>
        <a:srgbClr val="FFAB40"/>
      </a:lt2>
      <a:accent1>
        <a:srgbClr val="FFAB40"/>
      </a:accent1>
      <a:accent2>
        <a:srgbClr val="85D5E6"/>
      </a:accent2>
      <a:accent3>
        <a:srgbClr val="78909C"/>
      </a:accent3>
      <a:accent4>
        <a:srgbClr val="FFAB40"/>
      </a:accent4>
      <a:accent5>
        <a:srgbClr val="0097A7"/>
      </a:accent5>
      <a:accent6>
        <a:srgbClr val="001633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171</TotalTime>
  <Words>448</Words>
  <Application>Microsoft Office PowerPoint</Application>
  <PresentationFormat>On-screen Show (16:9)</PresentationFormat>
  <Paragraphs>83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Montserrat ExtraLight</vt:lpstr>
      <vt:lpstr>Montserrat ExtraBold</vt:lpstr>
      <vt:lpstr>Montserrat</vt:lpstr>
      <vt:lpstr>Futuristic Background by Slidesgo</vt:lpstr>
      <vt:lpstr>Food Tracking System Phase 2</vt:lpstr>
      <vt:lpstr>01</vt:lpstr>
      <vt:lpstr>Introduction</vt:lpstr>
      <vt:lpstr>Strengths and Weaknesses </vt:lpstr>
      <vt:lpstr>Food system</vt:lpstr>
      <vt:lpstr>Exercise system</vt:lpstr>
      <vt:lpstr>Log system</vt:lpstr>
      <vt:lpstr>PowerPoint Presentation</vt:lpstr>
      <vt:lpstr>Thank you for your attention!!!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Food Tracking System Phase 2</dc:title>
  <dc:creator>Denis Kešelj</dc:creator>
  <cp:lastModifiedBy>Denis Keselj (RIT Student)</cp:lastModifiedBy>
  <cp:revision>20</cp:revision>
  <dcterms:modified xsi:type="dcterms:W3CDTF">2026-05-04T09:22:43Z</dcterms:modified>
</cp:coreProperties>
</file>