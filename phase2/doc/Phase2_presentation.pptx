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0"/>
  </p:notesMasterIdLst>
  <p:sldIdLst>
    <p:sldId id="256" r:id="rId2"/>
    <p:sldId id="258" r:id="rId3"/>
    <p:sldId id="257" r:id="rId4"/>
    <p:sldId id="262" r:id="rId5"/>
    <p:sldId id="263" r:id="rId6"/>
    <p:sldId id="264" r:id="rId7"/>
    <p:sldId id="261" r:id="rId8"/>
    <p:sldId id="259" r:id="rId9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1"/>
      <p:bold r:id="rId12"/>
      <p:italic r:id="rId13"/>
      <p:boldItalic r:id="rId14"/>
    </p:embeddedFont>
    <p:embeddedFont>
      <p:font typeface="Montserrat ExtraBold" panose="00000900000000000000" pitchFamily="2" charset="0"/>
      <p:bold r:id="rId15"/>
      <p:boldItalic r:id="rId16"/>
    </p:embeddedFont>
    <p:embeddedFont>
      <p:font typeface="Montserrat ExtraLight" panose="000003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80C41F6-21AD-4895-88D6-9795F2D231D2}">
  <a:tblStyle styleId="{A80C41F6-21AD-4895-88D6-9795F2D231D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0" d="100"/>
          <a:sy n="110" d="100"/>
        </p:scale>
        <p:origin x="658" y="-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7f9262ee2f_0_26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7f9262ee2f_0_26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BB815F83-4344-8F2E-D863-700400803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6665AC53-54B6-B8C7-92FB-380EC34F59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4BE817A3-6FBC-16D2-545B-D65ECB815E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81457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573136AB-1845-4CDD-02F0-2E680641A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21E239EB-CB0B-AC54-B800-74030B3844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DD0BC75B-A06A-5A07-5BD0-5DD4A56545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1261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E63D7CEB-127A-89D8-EBAE-03707D641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DAE8BA68-817E-189D-7EB6-8C63A53076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9E75A3A6-A234-6214-36FF-A39601EED8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05518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7290233416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7290233416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effectLst>
            <a:outerShdw blurRad="114300" dist="28575" dir="6360000" algn="bl" rotWithShape="0">
              <a:schemeClr val="accen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CAPTION_ONLY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162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1pPr>
            <a:lvl2pPr marL="914400" lvl="1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2pPr>
            <a:lvl3pPr marL="1371600" lvl="2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3pPr>
            <a:lvl4pPr marL="1828800" lvl="3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4pPr>
            <a:lvl5pPr marL="2286000" lvl="4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5pPr>
            <a:lvl6pPr marL="2743200" lvl="5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6pPr>
            <a:lvl7pPr marL="3200400" lvl="6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7pPr>
            <a:lvl8pPr marL="3657600" lvl="7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8pPr>
            <a:lvl9pPr marL="4114800" lvl="8" indent="-301625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subTitle" idx="1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title" idx="2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ubTitle" idx="3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title" idx="4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subTitle" idx="5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title" idx="6" hasCustomPrompt="1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4"/>
          <p:cNvSpPr txBox="1">
            <a:spLocks noGrp="1"/>
          </p:cNvSpPr>
          <p:nvPr>
            <p:ph type="title" idx="7" hasCustomPrompt="1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4"/>
          <p:cNvSpPr txBox="1">
            <a:spLocks noGrp="1"/>
          </p:cNvSpPr>
          <p:nvPr>
            <p:ph type="title" idx="8" hasCustomPrompt="1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ctrTitle"/>
          </p:nvPr>
        </p:nvSpPr>
        <p:spPr>
          <a:xfrm>
            <a:off x="4285500" y="2832875"/>
            <a:ext cx="3657300" cy="644700"/>
          </a:xfrm>
          <a:prstGeom prst="rect">
            <a:avLst/>
          </a:prstGeom>
          <a:effectLst>
            <a:outerShdw blurRad="57150" dist="19050" dir="5400000" algn="bl" rotWithShape="0">
              <a:srgbClr val="76A5AF">
                <a:alpha val="88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subTitle" idx="1"/>
          </p:nvPr>
        </p:nvSpPr>
        <p:spPr>
          <a:xfrm>
            <a:off x="4144050" y="3549850"/>
            <a:ext cx="394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8" r:id="rId4"/>
    <p:sldLayoutId id="2147483659" r:id="rId5"/>
    <p:sldLayoutId id="2147483660" r:id="rId6"/>
    <p:sldLayoutId id="2147483661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"/>
          <p:cNvSpPr txBox="1">
            <a:spLocks noGrp="1"/>
          </p:cNvSpPr>
          <p:nvPr>
            <p:ph type="ctrTitle"/>
          </p:nvPr>
        </p:nvSpPr>
        <p:spPr>
          <a:xfrm>
            <a:off x="2175899" y="1824025"/>
            <a:ext cx="4792200" cy="644700"/>
          </a:xfrm>
          <a:prstGeom prst="rect">
            <a:avLst/>
          </a:prstGeom>
          <a:effectLst>
            <a:outerShdw blurRad="142875" dist="19050" dir="87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Food Tracking System Phase 2</a:t>
            </a:r>
            <a:endParaRPr dirty="0"/>
          </a:p>
        </p:txBody>
      </p:sp>
      <p:sp>
        <p:nvSpPr>
          <p:cNvPr id="164" name="Google Shape;164;p38"/>
          <p:cNvSpPr txBox="1">
            <a:spLocks noGrp="1"/>
          </p:cNvSpPr>
          <p:nvPr>
            <p:ph type="ctrTitle"/>
          </p:nvPr>
        </p:nvSpPr>
        <p:spPr>
          <a:xfrm>
            <a:off x="3318209" y="2758068"/>
            <a:ext cx="2507581" cy="1011045"/>
          </a:xfrm>
          <a:prstGeom prst="rect">
            <a:avLst/>
          </a:prstGeom>
          <a:effectLst>
            <a:outerShdw blurRad="100013" dist="19050" dir="84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100" b="0" dirty="0">
                <a:latin typeface="Montserrat ExtraLight"/>
                <a:ea typeface="Montserrat ExtraLight"/>
                <a:cs typeface="Montserrat ExtraLight"/>
                <a:sym typeface="Montserrat ExtraLight"/>
              </a:rPr>
              <a:t>Denis Keselj, </a:t>
            </a:r>
            <a:br>
              <a:rPr lang="hr-HR" sz="1100" b="0" dirty="0">
                <a:latin typeface="Montserrat ExtraLight"/>
                <a:ea typeface="Montserrat ExtraLight"/>
                <a:cs typeface="Montserrat ExtraLight"/>
                <a:sym typeface="Montserrat ExtraLight"/>
              </a:rPr>
            </a:br>
            <a:r>
              <a:rPr lang="hr-HR" sz="1100" b="0" dirty="0">
                <a:latin typeface="Montserrat ExtraLight"/>
                <a:ea typeface="Montserrat ExtraLight"/>
                <a:cs typeface="Montserrat ExtraLight"/>
                <a:sym typeface="Montserrat ExtraLight"/>
              </a:rPr>
              <a:t>Marko Obsivac,</a:t>
            </a:r>
            <a:br>
              <a:rPr lang="hr-HR" sz="1100" b="0" dirty="0">
                <a:latin typeface="Montserrat ExtraLight"/>
                <a:ea typeface="Montserrat ExtraLight"/>
                <a:cs typeface="Montserrat ExtraLight"/>
                <a:sym typeface="Montserrat ExtraLight"/>
              </a:rPr>
            </a:br>
            <a:r>
              <a:rPr lang="hr-HR" sz="1100" b="0" dirty="0">
                <a:latin typeface="Montserrat ExtraLight"/>
                <a:ea typeface="Montserrat ExtraLight"/>
                <a:cs typeface="Montserrat ExtraLight"/>
                <a:sym typeface="Montserrat ExtraLight"/>
              </a:rPr>
              <a:t>Gabriel Muskaj</a:t>
            </a:r>
            <a:endParaRPr sz="1100" b="0" dirty="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  <p:cxnSp>
        <p:nvCxnSpPr>
          <p:cNvPr id="165" name="Google Shape;165;p38"/>
          <p:cNvCxnSpPr/>
          <p:nvPr/>
        </p:nvCxnSpPr>
        <p:spPr>
          <a:xfrm>
            <a:off x="3190500" y="256517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0"/>
          <p:cNvSpPr txBox="1">
            <a:spLocks noGrp="1"/>
          </p:cNvSpPr>
          <p:nvPr>
            <p:ph type="title" idx="6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79" name="Google Shape;179;p40"/>
          <p:cNvSpPr txBox="1">
            <a:spLocks noGrp="1"/>
          </p:cNvSpPr>
          <p:nvPr>
            <p:ph type="title"/>
          </p:nvPr>
        </p:nvSpPr>
        <p:spPr>
          <a:xfrm>
            <a:off x="3538500" y="2629200"/>
            <a:ext cx="2067000" cy="916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hr-HR" dirty="0"/>
              <a:t>Exercise system</a:t>
            </a:r>
            <a:br>
              <a:rPr lang="hr-HR" dirty="0"/>
            </a:br>
            <a:endParaRPr dirty="0"/>
          </a:p>
        </p:txBody>
      </p:sp>
      <p:sp>
        <p:nvSpPr>
          <p:cNvPr id="181" name="Google Shape;181;p40"/>
          <p:cNvSpPr txBox="1">
            <a:spLocks noGrp="1"/>
          </p:cNvSpPr>
          <p:nvPr>
            <p:ph type="title" idx="2"/>
          </p:nvPr>
        </p:nvSpPr>
        <p:spPr>
          <a:xfrm>
            <a:off x="6340668" y="2601501"/>
            <a:ext cx="1442764" cy="6534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Log system</a:t>
            </a:r>
            <a:endParaRPr dirty="0"/>
          </a:p>
        </p:txBody>
      </p:sp>
      <p:sp>
        <p:nvSpPr>
          <p:cNvPr id="183" name="Google Shape;183;p40"/>
          <p:cNvSpPr txBox="1">
            <a:spLocks noGrp="1"/>
          </p:cNvSpPr>
          <p:nvPr>
            <p:ph type="title" idx="4"/>
          </p:nvPr>
        </p:nvSpPr>
        <p:spPr>
          <a:xfrm>
            <a:off x="1048447" y="2619257"/>
            <a:ext cx="2067000" cy="6534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Food</a:t>
            </a:r>
            <a:br>
              <a:rPr lang="hr-HR" dirty="0"/>
            </a:br>
            <a:r>
              <a:rPr lang="hr-HR" dirty="0"/>
              <a:t>system</a:t>
            </a:r>
            <a:endParaRPr dirty="0"/>
          </a:p>
        </p:txBody>
      </p:sp>
      <p:sp>
        <p:nvSpPr>
          <p:cNvPr id="185" name="Google Shape;185;p40"/>
          <p:cNvSpPr txBox="1">
            <a:spLocks noGrp="1"/>
          </p:cNvSpPr>
          <p:nvPr>
            <p:ph type="title" idx="7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86" name="Google Shape;186;p40"/>
          <p:cNvSpPr txBox="1">
            <a:spLocks noGrp="1"/>
          </p:cNvSpPr>
          <p:nvPr>
            <p:ph type="title" idx="8"/>
          </p:nvPr>
        </p:nvSpPr>
        <p:spPr>
          <a:xfrm>
            <a:off x="6028550" y="1752846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cxnSp>
        <p:nvCxnSpPr>
          <p:cNvPr id="187" name="Google Shape;187;p40"/>
          <p:cNvCxnSpPr/>
          <p:nvPr/>
        </p:nvCxnSpPr>
        <p:spPr>
          <a:xfrm>
            <a:off x="1883350" y="2546160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188" name="Google Shape;188;p40"/>
          <p:cNvCxnSpPr/>
          <p:nvPr/>
        </p:nvCxnSpPr>
        <p:spPr>
          <a:xfrm>
            <a:off x="4373400" y="2546160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189" name="Google Shape;189;p40"/>
          <p:cNvCxnSpPr/>
          <p:nvPr/>
        </p:nvCxnSpPr>
        <p:spPr>
          <a:xfrm>
            <a:off x="6863450" y="2546160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/>
          <p:cNvSpPr txBox="1">
            <a:spLocks noGrp="1"/>
          </p:cNvSpPr>
          <p:nvPr>
            <p:ph type="title"/>
          </p:nvPr>
        </p:nvSpPr>
        <p:spPr>
          <a:xfrm>
            <a:off x="1244255" y="489630"/>
            <a:ext cx="2326889" cy="6013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>
                <a:solidFill>
                  <a:schemeClr val="bg1"/>
                </a:solidFill>
              </a:rPr>
              <a:t>Introduction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71" name="Google Shape;171;p39"/>
          <p:cNvSpPr txBox="1">
            <a:spLocks noGrp="1"/>
          </p:cNvSpPr>
          <p:nvPr>
            <p:ph type="body" idx="1"/>
          </p:nvPr>
        </p:nvSpPr>
        <p:spPr>
          <a:xfrm>
            <a:off x="725728" y="1342675"/>
            <a:ext cx="7692544" cy="34834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hr-HR" sz="1200" dirty="0"/>
              <a:t> Puropse: </a:t>
            </a:r>
            <a:r>
              <a:rPr lang="en-US" sz="1200" dirty="0"/>
              <a:t>Design and implement a food and exercise tracking application.</a:t>
            </a:r>
          </a:p>
          <a:p>
            <a:pPr latinLnBrk="1">
              <a:lnSpc>
                <a:spcPct val="150000"/>
              </a:lnSpc>
            </a:pPr>
            <a:r>
              <a:rPr lang="en-US" sz="1200" dirty="0"/>
              <a:t>What it does:</a:t>
            </a:r>
          </a:p>
          <a:p>
            <a:pPr latinLnBrk="1">
              <a:lnSpc>
                <a:spcPct val="150000"/>
              </a:lnSpc>
            </a:pPr>
            <a:r>
              <a:rPr lang="en-US" sz="1200" dirty="0"/>
              <a:t> Monitor daily nutritional intake</a:t>
            </a:r>
          </a:p>
          <a:p>
            <a:pPr latinLnBrk="1">
              <a:lnSpc>
                <a:spcPct val="150000"/>
              </a:lnSpc>
            </a:pPr>
            <a:r>
              <a:rPr lang="en-US" sz="1200" dirty="0"/>
              <a:t> Track physical activity</a:t>
            </a:r>
          </a:p>
          <a:p>
            <a:pPr latinLnBrk="1">
              <a:lnSpc>
                <a:spcPct val="150000"/>
              </a:lnSpc>
            </a:pPr>
            <a:r>
              <a:rPr lang="en-US" sz="1200" dirty="0"/>
              <a:t> Define custom foods and recipes</a:t>
            </a:r>
          </a:p>
          <a:p>
            <a:pPr latinLnBrk="1">
              <a:lnSpc>
                <a:spcPct val="150000"/>
              </a:lnSpc>
            </a:pPr>
            <a:r>
              <a:rPr lang="en-US" sz="1200" dirty="0"/>
              <a:t> Log daily consumption</a:t>
            </a:r>
          </a:p>
          <a:p>
            <a:pPr latinLnBrk="1">
              <a:lnSpc>
                <a:spcPct val="150000"/>
              </a:lnSpc>
            </a:pPr>
            <a:r>
              <a:rPr lang="en-US" sz="1200" dirty="0"/>
              <a:t>Record exercise</a:t>
            </a:r>
          </a:p>
          <a:p>
            <a:pPr latinLnBrk="1">
              <a:lnSpc>
                <a:spcPct val="150000"/>
              </a:lnSpc>
            </a:pPr>
            <a:r>
              <a:rPr lang="en-US" sz="1200" dirty="0"/>
              <a:t> Track calorie balance over time</a:t>
            </a:r>
          </a:p>
          <a:p>
            <a:pPr latinLnBrk="1">
              <a:lnSpc>
                <a:spcPct val="150000"/>
              </a:lnSpc>
            </a:pPr>
            <a:endParaRPr lang="en-US" sz="1200" dirty="0"/>
          </a:p>
          <a:p>
            <a:pPr latinLnBrk="1">
              <a:lnSpc>
                <a:spcPct val="150000"/>
              </a:lnSpc>
            </a:pPr>
            <a:r>
              <a:rPr lang="en-US" sz="1200" dirty="0"/>
              <a:t>Goal:</a:t>
            </a:r>
            <a:r>
              <a:rPr lang="hr-HR" sz="1200" dirty="0"/>
              <a:t> </a:t>
            </a:r>
            <a:r>
              <a:rPr lang="en-US" sz="1200" dirty="0"/>
              <a:t>Provide users with a clear overview of their eating habits</a:t>
            </a:r>
          </a:p>
          <a:p>
            <a:pPr marL="0" indent="0">
              <a:lnSpc>
                <a:spcPct val="150000"/>
              </a:lnSpc>
              <a:spcAft>
                <a:spcPts val="1600"/>
              </a:spcAft>
              <a:buNone/>
            </a:pPr>
            <a:endParaRPr sz="1200" dirty="0"/>
          </a:p>
        </p:txBody>
      </p:sp>
      <p:cxnSp>
        <p:nvCxnSpPr>
          <p:cNvPr id="172" name="Google Shape;172;p39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173" name="Google Shape;173;p39"/>
          <p:cNvSpPr txBox="1"/>
          <p:nvPr/>
        </p:nvSpPr>
        <p:spPr>
          <a:xfrm>
            <a:off x="938500" y="4221950"/>
            <a:ext cx="68202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150" dirty="0">
              <a:solidFill>
                <a:schemeClr val="accen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98E0ACB4-4ACE-52FA-292B-288EF6CAB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68D20EF3-6A97-8077-99C5-DE8CEB797E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3827" y="519366"/>
            <a:ext cx="3327745" cy="6013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>
                <a:solidFill>
                  <a:schemeClr val="bg1"/>
                </a:solidFill>
              </a:rPr>
              <a:t>Food system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71" name="Google Shape;171;p39">
            <a:extLst>
              <a:ext uri="{FF2B5EF4-FFF2-40B4-BE49-F238E27FC236}">
                <a16:creationId xmlns:a16="http://schemas.microsoft.com/office/drawing/2014/main" id="{46E2E523-F4B6-0258-E7CF-ACA8C1CE09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5728" y="1342675"/>
            <a:ext cx="7692544" cy="34834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>
              <a:lnSpc>
                <a:spcPct val="150000"/>
              </a:lnSpc>
            </a:pPr>
            <a:r>
              <a:rPr lang="hr-HR" sz="1200" dirty="0"/>
              <a:t> </a:t>
            </a:r>
            <a:r>
              <a:rPr lang="en-US" sz="1200" dirty="0"/>
              <a:t>Stores and manages all food items. Allows users to add foods, search by name, </a:t>
            </a:r>
          </a:p>
          <a:p>
            <a:pPr marL="155575" indent="0" latinLnBrk="1">
              <a:lnSpc>
                <a:spcPct val="150000"/>
              </a:lnSpc>
              <a:buNone/>
            </a:pPr>
            <a:r>
              <a:rPr lang="hr-HR" sz="1200" dirty="0"/>
              <a:t>     </a:t>
            </a:r>
            <a:r>
              <a:rPr lang="en-US" sz="1200" dirty="0"/>
              <a:t>and calculate calories and nutrients for each serving.</a:t>
            </a:r>
          </a:p>
          <a:p>
            <a:pPr latinLnBrk="1">
              <a:lnSpc>
                <a:spcPct val="150000"/>
              </a:lnSpc>
            </a:pPr>
            <a:r>
              <a:rPr lang="en-US" sz="1200" dirty="0" err="1"/>
              <a:t>FoodItem</a:t>
            </a:r>
            <a:r>
              <a:rPr lang="hr-HR" sz="1200" dirty="0"/>
              <a:t>:</a:t>
            </a:r>
            <a:endParaRPr lang="en-US" sz="1200" dirty="0"/>
          </a:p>
          <a:p>
            <a:pPr marL="155575" indent="0" latinLnBrk="1">
              <a:lnSpc>
                <a:spcPct val="150000"/>
              </a:lnSpc>
              <a:buNone/>
            </a:pPr>
            <a:r>
              <a:rPr lang="hr-HR" sz="1200" dirty="0"/>
              <a:t>             </a:t>
            </a:r>
            <a:r>
              <a:rPr lang="en-US" sz="1200" dirty="0"/>
              <a:t>Represents a single basic food (Apple, Bread, Chicken)</a:t>
            </a:r>
            <a:endParaRPr lang="hr-HR" sz="1200" dirty="0"/>
          </a:p>
          <a:p>
            <a:pPr marL="155575" indent="0" latinLnBrk="1">
              <a:lnSpc>
                <a:spcPct val="150000"/>
              </a:lnSpc>
              <a:buNone/>
            </a:pPr>
            <a:r>
              <a:rPr lang="hr-HR" sz="1200" dirty="0"/>
              <a:t>             </a:t>
            </a:r>
            <a:r>
              <a:rPr lang="en-US" sz="1200" dirty="0"/>
              <a:t>Stores name, calories, fat, carbs, protein</a:t>
            </a:r>
          </a:p>
          <a:p>
            <a:pPr marL="155575" indent="0" latinLnBrk="1">
              <a:lnSpc>
                <a:spcPct val="150000"/>
              </a:lnSpc>
              <a:buNone/>
            </a:pPr>
            <a:r>
              <a:rPr lang="hr-HR" sz="1200" dirty="0"/>
              <a:t>             </a:t>
            </a:r>
            <a:r>
              <a:rPr lang="en-US" sz="1200" dirty="0"/>
              <a:t>Provides getters to access nutritional data</a:t>
            </a:r>
          </a:p>
          <a:p>
            <a:pPr>
              <a:lnSpc>
                <a:spcPct val="150000"/>
              </a:lnSpc>
            </a:pPr>
            <a:endParaRPr lang="hr-HR" sz="1200" dirty="0"/>
          </a:p>
          <a:p>
            <a:pPr latinLnBrk="1">
              <a:lnSpc>
                <a:spcPct val="150000"/>
              </a:lnSpc>
            </a:pPr>
            <a:r>
              <a:rPr lang="en-US" sz="1200" dirty="0" err="1"/>
              <a:t>FoodCollection</a:t>
            </a:r>
            <a:r>
              <a:rPr lang="hr-HR" sz="1200" dirty="0"/>
              <a:t>:</a:t>
            </a:r>
          </a:p>
          <a:p>
            <a:pPr marL="155575" indent="0" latinLnBrk="1">
              <a:lnSpc>
                <a:spcPct val="150000"/>
              </a:lnSpc>
              <a:buNone/>
            </a:pPr>
            <a:r>
              <a:rPr lang="hr-HR" sz="1200" dirty="0"/>
              <a:t>             </a:t>
            </a:r>
            <a:r>
              <a:rPr lang="en-US" sz="1200" dirty="0"/>
              <a:t>Manages all </a:t>
            </a:r>
            <a:r>
              <a:rPr lang="en-US" sz="1200" dirty="0" err="1"/>
              <a:t>FoodItem</a:t>
            </a:r>
            <a:r>
              <a:rPr lang="en-US" sz="1200" dirty="0"/>
              <a:t> objects in a HashMap</a:t>
            </a:r>
          </a:p>
          <a:p>
            <a:pPr marL="155575" indent="0" latinLnBrk="1">
              <a:lnSpc>
                <a:spcPct val="150000"/>
              </a:lnSpc>
              <a:buNone/>
            </a:pPr>
            <a:r>
              <a:rPr lang="hr-HR" sz="1200" dirty="0"/>
              <a:t>             </a:t>
            </a:r>
            <a:r>
              <a:rPr lang="en-US" sz="1200" dirty="0"/>
              <a:t>Key is food name</a:t>
            </a:r>
            <a:r>
              <a:rPr lang="hr-HR" sz="1200" dirty="0"/>
              <a:t>, </a:t>
            </a:r>
            <a:r>
              <a:rPr lang="en-US" sz="1200" dirty="0"/>
              <a:t>value is </a:t>
            </a:r>
            <a:r>
              <a:rPr lang="en-US" sz="1200" dirty="0" err="1"/>
              <a:t>FoodItem</a:t>
            </a:r>
            <a:endParaRPr lang="en-US" sz="1200" dirty="0"/>
          </a:p>
          <a:p>
            <a:pPr marL="155575" indent="0" latinLnBrk="1">
              <a:lnSpc>
                <a:spcPct val="150000"/>
              </a:lnSpc>
              <a:buNone/>
            </a:pPr>
            <a:r>
              <a:rPr lang="hr-HR" sz="1200" dirty="0"/>
              <a:t>             </a:t>
            </a:r>
            <a:r>
              <a:rPr lang="en-US" sz="1200" dirty="0" err="1"/>
              <a:t>addFood</a:t>
            </a:r>
            <a:r>
              <a:rPr lang="en-US" sz="1200" dirty="0"/>
              <a:t>() - adds new food to collection</a:t>
            </a:r>
          </a:p>
          <a:p>
            <a:pPr marL="155575" indent="0">
              <a:lnSpc>
                <a:spcPct val="150000"/>
              </a:lnSpc>
              <a:buNone/>
            </a:pPr>
            <a:br>
              <a:rPr lang="en-US" sz="1200" dirty="0"/>
            </a:br>
            <a:endParaRPr sz="1200" dirty="0"/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84F121AB-4AC5-6B3C-12D9-BBE2D20C7738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2453257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096E9ACD-EB5E-FFEC-7F28-2FED85B4F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33D6C34B-154B-5CDE-BFEE-8155746EF7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3827" y="519366"/>
            <a:ext cx="3327745" cy="6013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>
                <a:solidFill>
                  <a:schemeClr val="bg1"/>
                </a:solidFill>
              </a:rPr>
              <a:t>Exercise system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71" name="Google Shape;171;p39">
            <a:extLst>
              <a:ext uri="{FF2B5EF4-FFF2-40B4-BE49-F238E27FC236}">
                <a16:creationId xmlns:a16="http://schemas.microsoft.com/office/drawing/2014/main" id="{CEC81B40-7386-8EC4-3EC3-06A6B7AA1D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5728" y="1342675"/>
            <a:ext cx="7692544" cy="34834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>
              <a:lnSpc>
                <a:spcPct val="150000"/>
              </a:lnSpc>
            </a:pPr>
            <a:r>
              <a:rPr lang="en-US" sz="1200" dirty="0"/>
              <a:t>Stores exercise activities and calculates how many calories a user burns </a:t>
            </a:r>
          </a:p>
          <a:p>
            <a:pPr marL="155575" indent="0" latinLnBrk="1">
              <a:lnSpc>
                <a:spcPct val="150000"/>
              </a:lnSpc>
              <a:buNone/>
            </a:pPr>
            <a:r>
              <a:rPr lang="hr-HR" sz="1200" dirty="0"/>
              <a:t>        </a:t>
            </a:r>
            <a:r>
              <a:rPr lang="en-US" sz="1200" dirty="0"/>
              <a:t>based on their weight and how long they exercise.</a:t>
            </a:r>
          </a:p>
          <a:p>
            <a:pPr marL="155575" indent="0">
              <a:lnSpc>
                <a:spcPct val="150000"/>
              </a:lnSpc>
              <a:buNone/>
            </a:pPr>
            <a:endParaRPr lang="hr-HR" sz="1200" dirty="0"/>
          </a:p>
          <a:p>
            <a:pPr latinLnBrk="1">
              <a:lnSpc>
                <a:spcPct val="150000"/>
              </a:lnSpc>
            </a:pPr>
            <a:r>
              <a:rPr lang="en-US" sz="1200" dirty="0"/>
              <a:t>Exercise</a:t>
            </a:r>
            <a:r>
              <a:rPr lang="hr-HR" sz="1200" dirty="0"/>
              <a:t>:</a:t>
            </a:r>
          </a:p>
          <a:p>
            <a:pPr marL="155575" indent="0" latinLnBrk="1">
              <a:lnSpc>
                <a:spcPct val="150000"/>
              </a:lnSpc>
              <a:buNone/>
            </a:pPr>
            <a:r>
              <a:rPr lang="hr-HR" sz="1200" dirty="0"/>
              <a:t>             </a:t>
            </a:r>
            <a:r>
              <a:rPr lang="en-US" sz="1200" dirty="0"/>
              <a:t>Represents a physical activity (Gardening, Jogging, Swimming)</a:t>
            </a:r>
          </a:p>
          <a:p>
            <a:pPr marL="155575" indent="0" latinLnBrk="1">
              <a:lnSpc>
                <a:spcPct val="150000"/>
              </a:lnSpc>
              <a:buNone/>
            </a:pPr>
            <a:r>
              <a:rPr lang="hr-HR" sz="1200" dirty="0"/>
              <a:t>             </a:t>
            </a:r>
            <a:r>
              <a:rPr lang="en-US" sz="1200" dirty="0"/>
              <a:t>Stores name and </a:t>
            </a:r>
            <a:r>
              <a:rPr lang="en-US" sz="1200" dirty="0" err="1"/>
              <a:t>burnRate</a:t>
            </a:r>
            <a:r>
              <a:rPr lang="en-US" sz="1200" dirty="0"/>
              <a:t> (calories per hour for 100 pound person)</a:t>
            </a:r>
            <a:endParaRPr lang="hr-HR" sz="1200" dirty="0"/>
          </a:p>
          <a:p>
            <a:pPr latinLnBrk="1">
              <a:lnSpc>
                <a:spcPct val="150000"/>
              </a:lnSpc>
            </a:pPr>
            <a:r>
              <a:rPr lang="en-US" dirty="0" err="1"/>
              <a:t>ExerciseCollection</a:t>
            </a:r>
            <a:r>
              <a:rPr lang="hr-HR" dirty="0"/>
              <a:t>:</a:t>
            </a:r>
          </a:p>
          <a:p>
            <a:pPr marL="155575" indent="0" latinLnBrk="1">
              <a:lnSpc>
                <a:spcPct val="150000"/>
              </a:lnSpc>
              <a:buNone/>
            </a:pPr>
            <a:r>
              <a:rPr lang="hr-HR" dirty="0"/>
              <a:t>            </a:t>
            </a:r>
            <a:r>
              <a:rPr lang="en-US" dirty="0"/>
              <a:t> Manages all Exercise objects in a HashMap</a:t>
            </a:r>
          </a:p>
          <a:p>
            <a:pPr marL="155575" indent="0" latinLnBrk="1">
              <a:lnSpc>
                <a:spcPct val="150000"/>
              </a:lnSpc>
              <a:buNone/>
            </a:pPr>
            <a:r>
              <a:rPr lang="hr-HR" dirty="0"/>
              <a:t>             </a:t>
            </a:r>
            <a:r>
              <a:rPr lang="en-US" dirty="0"/>
              <a:t>Key is exercise name (lowercase), value is Exercise</a:t>
            </a:r>
          </a:p>
          <a:p>
            <a:pPr latinLnBrk="1">
              <a:lnSpc>
                <a:spcPct val="150000"/>
              </a:lnSpc>
            </a:pPr>
            <a:endParaRPr lang="hr-HR" sz="1200" dirty="0"/>
          </a:p>
          <a:p>
            <a:pPr latinLnBrk="1">
              <a:lnSpc>
                <a:spcPct val="150000"/>
              </a:lnSpc>
            </a:pPr>
            <a:r>
              <a:rPr lang="en-US" dirty="0" err="1"/>
              <a:t>ExerciseEntry</a:t>
            </a:r>
            <a:r>
              <a:rPr lang="hr-HR" dirty="0"/>
              <a:t>: </a:t>
            </a:r>
            <a:r>
              <a:rPr lang="en-US" dirty="0"/>
              <a:t> Connects an Exercise with a number of minutes</a:t>
            </a:r>
          </a:p>
          <a:p>
            <a:pPr latinLnBrk="1">
              <a:lnSpc>
                <a:spcPct val="150000"/>
              </a:lnSpc>
            </a:pPr>
            <a:endParaRPr lang="hr-HR" sz="1200" dirty="0"/>
          </a:p>
          <a:p>
            <a:pPr marL="155575" indent="0" latinLnBrk="1">
              <a:lnSpc>
                <a:spcPct val="150000"/>
              </a:lnSpc>
              <a:buNone/>
            </a:pPr>
            <a:endParaRPr lang="en-US" sz="1200" dirty="0"/>
          </a:p>
          <a:p>
            <a:pPr>
              <a:lnSpc>
                <a:spcPct val="150000"/>
              </a:lnSpc>
            </a:pPr>
            <a:endParaRPr lang="hr-HR" sz="1200" dirty="0"/>
          </a:p>
          <a:p>
            <a:pPr marL="155575" indent="0">
              <a:lnSpc>
                <a:spcPct val="150000"/>
              </a:lnSpc>
              <a:buNone/>
            </a:pPr>
            <a:br>
              <a:rPr lang="en-US" sz="1200" dirty="0"/>
            </a:br>
            <a:r>
              <a:rPr lang="hr-HR" sz="1200" dirty="0"/>
              <a:t> </a:t>
            </a:r>
            <a:endParaRPr sz="1200" dirty="0"/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19D08D8E-B5B1-D9EF-9A7D-9E01CC305C54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173" name="Google Shape;173;p39">
            <a:extLst>
              <a:ext uri="{FF2B5EF4-FFF2-40B4-BE49-F238E27FC236}">
                <a16:creationId xmlns:a16="http://schemas.microsoft.com/office/drawing/2014/main" id="{D87F38A5-01B3-9E08-32FA-5452BDDDF41E}"/>
              </a:ext>
            </a:extLst>
          </p:cNvPr>
          <p:cNvSpPr txBox="1"/>
          <p:nvPr/>
        </p:nvSpPr>
        <p:spPr>
          <a:xfrm>
            <a:off x="938500" y="4221950"/>
            <a:ext cx="68202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150" dirty="0">
              <a:solidFill>
                <a:schemeClr val="accen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621612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45EF3ED3-4726-3CE9-9823-533D14B0A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C9974397-FDD0-A3A8-48D1-9A6110326B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3827" y="519366"/>
            <a:ext cx="3327745" cy="6013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>
                <a:solidFill>
                  <a:schemeClr val="bg1"/>
                </a:solidFill>
              </a:rPr>
              <a:t>Log system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71" name="Google Shape;171;p39">
            <a:extLst>
              <a:ext uri="{FF2B5EF4-FFF2-40B4-BE49-F238E27FC236}">
                <a16:creationId xmlns:a16="http://schemas.microsoft.com/office/drawing/2014/main" id="{442C4C67-4640-20B1-CBF2-A61986E035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6116" y="1226072"/>
            <a:ext cx="5835805" cy="36605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>
              <a:lnSpc>
                <a:spcPct val="150000"/>
              </a:lnSpc>
            </a:pPr>
            <a:r>
              <a:rPr lang="hr-HR" sz="1000" dirty="0"/>
              <a:t> </a:t>
            </a:r>
            <a:r>
              <a:rPr lang="en-US" sz="1000" dirty="0"/>
              <a:t>Tracks all user activities for a specific date. Combines food intake and </a:t>
            </a:r>
          </a:p>
          <a:p>
            <a:pPr marL="155575" indent="0" latinLnBrk="1">
              <a:lnSpc>
                <a:spcPct val="150000"/>
              </a:lnSpc>
              <a:buNone/>
            </a:pPr>
            <a:r>
              <a:rPr lang="hr-HR" sz="1000" dirty="0"/>
              <a:t>          </a:t>
            </a:r>
            <a:r>
              <a:rPr lang="en-US" sz="1000" dirty="0"/>
              <a:t>exercise, calculates totals, and shows if user meets calorie goals.</a:t>
            </a:r>
            <a:endParaRPr lang="hr-HR" sz="1000" dirty="0"/>
          </a:p>
          <a:p>
            <a:pPr marL="155575" indent="0" latinLnBrk="1">
              <a:lnSpc>
                <a:spcPct val="150000"/>
              </a:lnSpc>
              <a:buNone/>
            </a:pPr>
            <a:endParaRPr lang="en-US" sz="1000" dirty="0"/>
          </a:p>
          <a:p>
            <a:pPr latinLnBrk="1">
              <a:lnSpc>
                <a:spcPct val="150000"/>
              </a:lnSpc>
            </a:pPr>
            <a:r>
              <a:rPr lang="en-US" sz="1000" dirty="0" err="1"/>
              <a:t>DailyLog</a:t>
            </a:r>
            <a:r>
              <a:rPr lang="hr-HR" sz="1000" dirty="0"/>
              <a:t>: </a:t>
            </a:r>
            <a:r>
              <a:rPr lang="en-US" sz="1000" dirty="0"/>
              <a:t> </a:t>
            </a:r>
            <a:endParaRPr lang="hr-HR" sz="1000" dirty="0"/>
          </a:p>
          <a:p>
            <a:pPr marL="155575" indent="0" latinLnBrk="1">
              <a:lnSpc>
                <a:spcPct val="150000"/>
              </a:lnSpc>
              <a:buNone/>
            </a:pPr>
            <a:r>
              <a:rPr lang="hr-HR" sz="1000" dirty="0"/>
              <a:t>             </a:t>
            </a:r>
            <a:r>
              <a:rPr lang="en-US" sz="1000" dirty="0"/>
              <a:t>Represents one single day </a:t>
            </a:r>
            <a:endParaRPr lang="hr-HR" sz="1000" dirty="0"/>
          </a:p>
          <a:p>
            <a:pPr marL="155575" indent="0" latinLnBrk="1">
              <a:lnSpc>
                <a:spcPct val="150000"/>
              </a:lnSpc>
              <a:buNone/>
            </a:pPr>
            <a:r>
              <a:rPr lang="hr-HR" sz="1000" dirty="0"/>
              <a:t>             Stores list of LogEntry and ExerciseEntry</a:t>
            </a:r>
          </a:p>
          <a:p>
            <a:pPr marL="155575" indent="0" latinLnBrk="1">
              <a:lnSpc>
                <a:spcPct val="150000"/>
              </a:lnSpc>
              <a:buNone/>
            </a:pPr>
            <a:r>
              <a:rPr lang="hr-HR" sz="1000" dirty="0"/>
              <a:t>             </a:t>
            </a:r>
            <a:r>
              <a:rPr lang="en-US" sz="1000" dirty="0"/>
              <a:t>Stores weight and </a:t>
            </a:r>
            <a:r>
              <a:rPr lang="en-US" sz="1000" dirty="0" err="1"/>
              <a:t>calorieLimit</a:t>
            </a:r>
            <a:r>
              <a:rPr lang="en-US" sz="1000" dirty="0"/>
              <a:t> for that day</a:t>
            </a:r>
          </a:p>
          <a:p>
            <a:pPr marL="155575" indent="0" latinLnBrk="1">
              <a:lnSpc>
                <a:spcPct val="150000"/>
              </a:lnSpc>
              <a:buNone/>
            </a:pPr>
            <a:endParaRPr lang="hr-HR" sz="1000" dirty="0"/>
          </a:p>
          <a:p>
            <a:pPr latinLnBrk="1">
              <a:lnSpc>
                <a:spcPct val="150000"/>
              </a:lnSpc>
            </a:pPr>
            <a:r>
              <a:rPr lang="en-US" sz="1000" dirty="0" err="1"/>
              <a:t>LogManager</a:t>
            </a:r>
            <a:r>
              <a:rPr lang="hr-HR" sz="1000" dirty="0"/>
              <a:t>:</a:t>
            </a:r>
            <a:endParaRPr lang="en-US" sz="1000" dirty="0"/>
          </a:p>
          <a:p>
            <a:pPr marL="155575" indent="0" latinLnBrk="1">
              <a:lnSpc>
                <a:spcPct val="150000"/>
              </a:lnSpc>
              <a:buNone/>
            </a:pPr>
            <a:r>
              <a:rPr lang="hr-HR" sz="1000" dirty="0"/>
              <a:t>             </a:t>
            </a:r>
            <a:r>
              <a:rPr lang="en-US" sz="1000" dirty="0"/>
              <a:t>Manages all </a:t>
            </a:r>
            <a:r>
              <a:rPr lang="en-US" sz="1000" dirty="0" err="1"/>
              <a:t>DailyLog</a:t>
            </a:r>
            <a:r>
              <a:rPr lang="en-US" sz="1000" dirty="0"/>
              <a:t> objects in a HashMap</a:t>
            </a:r>
          </a:p>
          <a:p>
            <a:pPr marL="155575" indent="0" latinLnBrk="1">
              <a:lnSpc>
                <a:spcPct val="150000"/>
              </a:lnSpc>
              <a:buNone/>
            </a:pPr>
            <a:r>
              <a:rPr lang="hr-HR" sz="1000" dirty="0"/>
              <a:t>             </a:t>
            </a:r>
            <a:r>
              <a:rPr lang="en-US" sz="1000" dirty="0"/>
              <a:t>Key is </a:t>
            </a:r>
            <a:r>
              <a:rPr lang="en-US" sz="1000" dirty="0" err="1"/>
              <a:t>LocalDate</a:t>
            </a:r>
            <a:r>
              <a:rPr lang="en-US" sz="1000" dirty="0"/>
              <a:t>, value is </a:t>
            </a:r>
            <a:r>
              <a:rPr lang="en-US" sz="1000" dirty="0" err="1"/>
              <a:t>DailyLog</a:t>
            </a:r>
            <a:endParaRPr lang="en-US" sz="1000" dirty="0"/>
          </a:p>
          <a:p>
            <a:pPr latinLnBrk="1">
              <a:lnSpc>
                <a:spcPct val="150000"/>
              </a:lnSpc>
            </a:pPr>
            <a:endParaRPr lang="en-US" sz="1000" dirty="0"/>
          </a:p>
          <a:p>
            <a:pPr latinLnBrk="1">
              <a:lnSpc>
                <a:spcPct val="150000"/>
              </a:lnSpc>
            </a:pPr>
            <a:r>
              <a:rPr lang="en-US" sz="1000" dirty="0"/>
              <a:t>Nutrients</a:t>
            </a:r>
            <a:r>
              <a:rPr lang="hr-HR" sz="1000" dirty="0"/>
              <a:t>:</a:t>
            </a:r>
            <a:endParaRPr lang="en-US" sz="1000" dirty="0"/>
          </a:p>
          <a:p>
            <a:pPr marL="155575" indent="0" latinLnBrk="1">
              <a:lnSpc>
                <a:spcPct val="150000"/>
              </a:lnSpc>
              <a:buNone/>
            </a:pPr>
            <a:r>
              <a:rPr lang="hr-HR" sz="1000" dirty="0"/>
              <a:t>              </a:t>
            </a:r>
            <a:r>
              <a:rPr lang="en-US" sz="1000" dirty="0"/>
              <a:t>Stores total fat, carbs, protein in grams</a:t>
            </a:r>
            <a:endParaRPr lang="hr-HR" sz="1000" dirty="0"/>
          </a:p>
          <a:p>
            <a:pPr marL="155575" indent="0" latinLnBrk="1">
              <a:lnSpc>
                <a:spcPct val="150000"/>
              </a:lnSpc>
              <a:buNone/>
            </a:pPr>
            <a:r>
              <a:rPr lang="hr-HR" sz="1000" dirty="0"/>
              <a:t>             </a:t>
            </a:r>
            <a:r>
              <a:rPr lang="en-US" sz="1000" dirty="0"/>
              <a:t> Calculates percentages for display</a:t>
            </a:r>
          </a:p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endParaRPr lang="hr-HR" sz="1000" dirty="0"/>
          </a:p>
          <a:p>
            <a:pPr marL="0" indent="0">
              <a:lnSpc>
                <a:spcPct val="150000"/>
              </a:lnSpc>
              <a:spcAft>
                <a:spcPts val="1600"/>
              </a:spcAft>
              <a:buNone/>
            </a:pPr>
            <a:r>
              <a:rPr lang="hr-HR" sz="1000" dirty="0"/>
              <a:t> </a:t>
            </a:r>
            <a:endParaRPr sz="1000" dirty="0"/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644BF201-D20A-B5EF-A9AB-7DE614A70836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173" name="Google Shape;173;p39">
            <a:extLst>
              <a:ext uri="{FF2B5EF4-FFF2-40B4-BE49-F238E27FC236}">
                <a16:creationId xmlns:a16="http://schemas.microsoft.com/office/drawing/2014/main" id="{2D7FB69D-4C90-708E-AE8F-5FECC1AB28B2}"/>
              </a:ext>
            </a:extLst>
          </p:cNvPr>
          <p:cNvSpPr txBox="1"/>
          <p:nvPr/>
        </p:nvSpPr>
        <p:spPr>
          <a:xfrm>
            <a:off x="938500" y="4221950"/>
            <a:ext cx="68202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150" dirty="0">
              <a:solidFill>
                <a:schemeClr val="accen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029713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C15D989-D155-70D8-BB15-874A8CB1D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106" y="185853"/>
            <a:ext cx="5791597" cy="47717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1"/>
          <p:cNvSpPr txBox="1">
            <a:spLocks noGrp="1"/>
          </p:cNvSpPr>
          <p:nvPr>
            <p:ph type="ctrTitle"/>
          </p:nvPr>
        </p:nvSpPr>
        <p:spPr>
          <a:xfrm>
            <a:off x="4237010" y="1780309"/>
            <a:ext cx="4380518" cy="227222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4400" dirty="0"/>
              <a:t>Thank you for your attention!!! </a:t>
            </a:r>
            <a:endParaRPr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354</Words>
  <Application>Microsoft Office PowerPoint</Application>
  <PresentationFormat>On-screen Show (16:9)</PresentationFormat>
  <Paragraphs>67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Montserrat ExtraLight</vt:lpstr>
      <vt:lpstr>Montserrat</vt:lpstr>
      <vt:lpstr>Arial</vt:lpstr>
      <vt:lpstr>Montserrat ExtraBold</vt:lpstr>
      <vt:lpstr>Futuristic Background by Slidesgo</vt:lpstr>
      <vt:lpstr>Food Tracking System Phase 2</vt:lpstr>
      <vt:lpstr>01</vt:lpstr>
      <vt:lpstr>Introduction</vt:lpstr>
      <vt:lpstr>Food system</vt:lpstr>
      <vt:lpstr>Exercise system</vt:lpstr>
      <vt:lpstr>Log system</vt:lpstr>
      <vt:lpstr>PowerPoint Presentation</vt:lpstr>
      <vt:lpstr>Thank you for your attention!!!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Denis Kešelj</dc:creator>
  <cp:lastModifiedBy>Denis Kešelj</cp:lastModifiedBy>
  <cp:revision>12</cp:revision>
  <dcterms:modified xsi:type="dcterms:W3CDTF">2026-05-03T22:02:51Z</dcterms:modified>
</cp:coreProperties>
</file>